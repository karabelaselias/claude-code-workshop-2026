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2014"/>
  </p:normalViewPr>
  <p:slideViewPr>
    <p:cSldViewPr snapToGrid="0" snapToObjects="1">
      <p:cViewPr varScale="1">
        <p:scale>
          <a:sx n="169" d="100"/>
          <a:sy n="169" d="100"/>
        </p:scale>
        <p:origin x="27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619106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Self-intro: 'Mathematician and computer scientist by training. I now work on software for cardiac electromechanics — finite-element models, coupled electrical-mechanical solvers, Python and C++ pipelines. I'm not an AI researcher. I use Claude Code the way you do: as a second pair of hands for code I already understand. Everything in this workshop is from that perspective — a numerical-software engineer's view of these tools, not an AI vendor's pitch.'
Housekeeping: 3h30min total, three hands-on exercises (~40 min combined), questions welcome anytime. Starter kit zip will be shared at the end — don't take notes on the commands, they're all in the cheatsheet.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 timing: Fundamentals ~45min, Privacy/Tokens ~20min, Skills/Plugins/Subagents ~35min, haft ~30min, Beads ~20min, Anti-Deskilling ~25min. Three hands-on exercises are folded in (install, first real task, skill authoring). Ask who has already tried Claude Code vs. other agentic coding tools (Cursor, Copilot CLI, Aider) — calibrates how much time to spend on the early fundamentals. If the room is mostly experienced, skim slides 3–5 and get to operating modes faster.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terminal tool, not a chatbot. It's closer to a very capable pair programmer sitting in your shell than to a web UI. Mental model for this room: 'a process that reads your working directory and can run commands' — same trust boundary as any other CLI you'd run. The interesting parts aren't the feature list; they're how the context window is managed, how tool use works, and where it still needs you to drive. We'll get to all of that.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Usual yes, you can pipe curl to bash caveat — if people are uncomfortable, the installer is a signed binary they can download first and inspect. Auth: two paths — Anthropic Console account (subscription-billed, usage pooled) or a raw API key (pay-per-token). For a research group I'd suggest the Console account per person rather than sharing an API key. On Linux/macOS the installer drops a binary in ~/.local/bin or similar and updates PATH; on fresh shells you may need to `source ~/.bashrc`. If behind a corporate proxy, set HTTPS_PROXY before the curl.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shortcuts worth drilling: Esc+Esc rewind (huge — when Claude goes off the rails mid-task you don't need to /clear and lose context, just roll back to the last good turn) and /compact (when the context window fills up it'll compact automatically, but doing it yourself mid-task lets you keep working without losing the thread). /btw is newer and underused — handy for 'what does this error mean' side-questions that you don't want polluting the main session transcript. Demo /init live if time allows — it'll ask a few questions about the project and write an initial CLAUDE.md, which is a nicer starting point than a blank file.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operating mode is the single biggest lever for how much trust you're extending. The honest default for a new repo is Plan Mode — let it read around, produce a plan, and either accept, edit, or throw out. For code I wrote myself and know well I drop straight into Normal. Auto-accept is for chores: bulk renames, mechanical formatting passes, doc scaffolding. I do not use auto-accept on build configs, CMakeLists, solver setup code, or anything that touches MPI or GPU init — too easy for a 'clean up' to silently break the parallel path. Emphasize: modes are per-session, not per-file, so you're in charge of switching when context changes.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a pause: 'think of a decision in your own work — algorithmic, numerical, architectural — that you made two or three years ago. When did you last revisit it?' Almost everyone has a stale one. That is the whole point of this section.
Terminology — ADR stands for Architectural Decision Record (Michael Nygard, 2011). A short markdown doc per consequential decision: context, options, choice, consequences. Numbered sequentially (0001-use-postgres.md, etc.), committed with the code. If your audience hasn't heard the term, skip it; if they have, it's the closest benchmark to haft — you'll come back to the comparison on the next slide.
Delivery: the cardiac electromechanics example is your actual domain — deliver with authority. The AI segmentation example is adjacent — you are a numerical-software person, not an imaging person. Say so plainly: 'I'm not the AI researcher in the room, but colleagues who work on segmentation have hit exactly this failure mode.' Honesty plays better than pretending to be a U-Net expert.
The key insight: lab notebooks and ADRs are STATIC artifacts. They have no expiration mechanism. The field moves but your documented commitments don't. haft is about closing that gap.
If someone pushes back with 'we just re-evaluate when we write the next paper' — fine, but that's reactive. haft makes it proactive: the decision itself surfaces when its evidence ages out.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ADR question before it gets asked. Someone will think 'this is just ADRs with extra steps.' Honest answer: haft is ADRs plus two things — (1) decisions carry verifiable claims with verify_after dates, not just a rationale paragraph; (2) trust in each decision decays as evidence ages, so stale decisions surface automatically. If your team already writes ADRs, haft is the next step up. If you don't, haft gives you the discipline AND the lifecycle in one tool.
Pareto-front clarification — your audience knows Pareto from multi-objective optimization (NSGA-II, MOEA/D, the formal non-dominated set). Be upfront: haft does NOT run formal MOO on your alternatives. What it does is lay out the candidates against your declared criteria in a comparison table and enforce that you reason in terms of tradeoffs rather than collapsing to a single weighted score. Call it Pareto-THINKING, not Pareto-COMPUTATION. The discipline: don't pretend you can trade 0.02 AUC for 30 ms runtime via a magic coefficient — state the tradeoff explicitly and let a human decide. That's why the on-slide bullet says 'explicit tradeoffs, no collapsed score' rather than promising a formal front.
Trust score (R_eff): one number per decision, decays as evidence ages. Not a p-value. Think 'how confident should I still be in the rationale?' Past threshold, decision surfaces for review.
FPF is 'eternal alpha' per Levenchuk's own phrasing — a working methodology still evolving. haft is inspired-by, not implementation-of. Be honest about this if someone asks.
Don't go deep on R_eff math or FPF's seven foundational ideas — the audience can google those. The point is the cycle and the expiration mechanism.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PhD-churn bullet is the one the room will recognize instantly. Every researcher has inherited code they didn't understand — either from a predecessor, or from their own past self. Name that explicitly.
The 'publish on top of them' point is the sharpest: research compounds. If decision A underpins result B, and A's evidence decays silently, then B's foundation has cracked and you didn't notice. haft makes that visible.
This is the slide where the audience should feel 'yes, this is my problem.' If you're getting nods, move on quickly. If you're getting blank stares, ask them to name a time they inherited someone else's code and couldn't tell why a specific choice was made.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own workflow: /h-note maybe once a day — tolerances, hyperparameter sweeps, small solver tweaks. /h-reason for mid-weight calls where I'm not sure how deep to go and want Claude to suggest. Full /h-frame → /h-verify cycle maybe once a month, reserved for real architectural calls.
The .haft/ directory is safe to commit — it's the decision graph in human-readable form. Git-diffable, reviewable, audit-compatible.
If someone used Quint Codes (v5 or earlier): .quint/ and /q-* migrate automatically to .haft/ and /h-* on first haft init. No manual work needed.
Honest caveat to mention: haft doesn't run your benchmarks for you. It doesn't verify your claims — you still have to do the work. What it does is make sure your decisions don't silently rot.
Compatible tools list: name Cursor and Gemini CLI at least — shows it's not Claude-Code-locked. Full /h-* command table is in the cheatsheet; don't read it out loud.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for this room: most of you already have an issue tracker — GitLab, Jira, whatever the group uses. Beads is not a replacement for that. It's a local graph of tasks that Claude Code reads and writes, so when you break a feature into pieces and spawn subagents, they have a shared view of what's done, what's blocked, and what's next. Think of it as short-term operational memory for the agent, not long-term project tracking. The Dolt layer is useful because it's diffable and mergeable — if two parallel sessions touch the issue graph, you can reconcile them like you would source code. Steve Yegge built this (yes, that Steve Yegge) — he writes about the motivation on his Substack and the repo has good background reading.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Deutsch pencil quote via Ivan Zakutnii (haft developer)
Tone: I'm not here to sell Amodei's forecast. Present the number, then say plainly that reasonable people disagree — what's not contested is that the tools are now part of how software gets written. For a research audience, connect this to grant cycles and PhD timelines: people entering the field today will spend their whole careers with these tools on the desk.
Discussion prompt (optional): In your own field — AI research, image segmentation, cardiac electromechanics — which parts of the work still require a human to sit with the problem, and which are already mostly supervised automation? No right answer, just get people talking.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marL="0" indent="0" algn="l">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sp>
        <p:nvSpPr>
          <p:cNvPr id="4" name="Text 2"/>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914400" y="5029200"/>
            <a:ext cx="7315200" cy="457200"/>
          </a:xfrm>
          <a:prstGeom prst="rect">
            <a:avLst/>
          </a:prstGeom>
          <a:noFill/>
          <a:ln/>
        </p:spPr>
        <p:txBody>
          <a:bodyPr wrap="square" rtlCol="0" anchor="ctr"/>
          <a:lstStyle/>
          <a:p>
            <a:pPr marL="0" indent="0">
              <a:buNone/>
            </a:pPr>
            <a:r>
              <a:rPr lang="en-US" sz="1600" dirty="0">
                <a:solidFill>
                  <a:srgbClr val="888888"/>
                </a:solidFill>
                <a:latin typeface="Inter" pitchFamily="34" charset="0"/>
                <a:ea typeface="Inter" pitchFamily="34" charset="-122"/>
                <a:cs typeface="Inter" pitchFamily="34" charset="-120"/>
              </a:rPr>
              <a:t>Elias Karabelas  ·  NumeriCor GmbH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Disclaimer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325880"/>
            <a:ext cx="10332720" cy="498348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 2026 Elias Karabelas · NumeriCor GmbH. All rights reserved.</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This workshop is presented by Elias Karabelas in a personal capacity. NumeriCor GmbH is aware of and supportive of this event, and the NumeriCor logo is used with permission. However, this workshop is not an official NumeriCor GmbH product or service. The content, views, and recommendations expressed here are solely those of the presenter and do not constitute NumeriCor’s advice, offerings, or business activities.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These materials are provided for educational purposes only. The author makes no warranties, express or implied, regarding the accuracy, completeness, or fitness for any particular purpose of the information contained herein.</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Third-party tools referenced — Claude Code, haft, Beads — are subject to their own terms, pricing, and availability, and may change at any time without notice. Always verify current documentation before relying on any workflow described here.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No part of this presentation may be reproduced or distributed without prior written permission. Questions: elias.karabelas@numericor.at</a:t>
            </a:r>
            <a:endParaRPr lang="en-US" sz="1600" dirty="0"/>
          </a:p>
        </p:txBody>
      </p:sp>
      <p:sp>
        <p:nvSpPr>
          <p:cNvPr id="5" name="Text 3"/>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What we will cover today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An agentic coding tool that lives in your terminal</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A CLI from Anthropic that puts a Claude session inside your project directory. It reads files, writes patches, runs shell commands, and works with git — driven from a prompt, not a chat window in a browser.</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What it actually does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Reads your repo — opens files, follows imports, greps for symbols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Edits code — writes diffs across multiple files in one turn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Runs your toolchain — tests, builds, linters, git, whatever is on PATH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Spawns subagents — parallel workers for independent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Thinks longer on demand — extended reasoning when you ask for 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Up and running in under two minutes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1: Install</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https://claude.ai/install.sh | bash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2: Launch</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3: Verify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10 minutes — get Claude Code running on your machine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Run the starter kit installer</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 install.sh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Launch and authenticate</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Verify everything works</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/help          → should show available commands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connected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doctor      → Beads healthy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Essential commands and workflow patterns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Pick the right model — or let opusplan do it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claude --model opusplan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sonnet          # mid-session command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Control how much autonomy Claude has — Shift+Tab to cycle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Plan Mode — start here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Normal Mode (default)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Auto-Accept Edits Mode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Which level changes what — and what to commit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What to commit to git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Concrete JSON snippets you can copy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Model defaults</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"opusplan",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"effortLevel": "high"}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"Bash(git *)"],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"deny": ["Edit", "Write", "Bash"]}}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Auto-approve safe tools (project-level)</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"Glob", "Grep",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"Bash(npm test)", "Bash(npm run build)"]}}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"env": {"DISABLE_TELEMETRY": "1",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"DISABLE_ERROR_REPORTING": "1"}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Less is more — defaults first, deviate when necessary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What the research says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15 minutes — make Claude Code yours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1. Copy the user settings template</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cp starter-kit/user-settings.json ~/.claude/settings.json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Claude Code inside your editor</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Pro tip</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What Anthropic sees, stores, and trains on</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Telemetry opt-out</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DISABLE_TELEMETRY=1   DISABLE_ERROR_REPORTING=1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In context: how does this compare?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Teach Claude new capabilities with markdown files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What are Skills?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Skill anatomy</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my-skill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description: When to trigger this skill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Instructions for Claude go here...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The Claude Code extension ecosystem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MCP (Model Context Protocol)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Plugins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How Claude delegates work — and how you can fine-tune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Custom subagents: full control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paper-reviewer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tools: Read, Grep, Glob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permissionMode: plan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You are a scientific paper reviewer...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marL="0" indent="0" algn="r">
              <a:buNone/>
            </a:pPr>
            <a:r>
              <a:rPr lang="en-US" sz="24000" b="1" dirty="0">
                <a:solidFill>
                  <a:srgbClr val="191919"/>
                </a:solidFill>
                <a:latin typeface="Inter" pitchFamily="34" charset="0"/>
                <a:ea typeface="Inter" pitchFamily="34" charset="-122"/>
                <a:cs typeface="Inter" pitchFamily="34" charset="-120"/>
              </a:rPr>
              <a:t>19</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When Decisions Go Stale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The problem haft solves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Cardiac electromechanics, 2022</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pick a tissue constitutive model and a time-stepping scheme. Three papers read, two benchmarks run, one ADR written. By 2024 a better-conditioned scheme is out and two of the original papers have been superseded. Your pipeline still runs the 2022 choice.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AI segmentation, 2022</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pick a U-Net variant for cardiac MRI, benchmark it, document the rationale. By 2024 transformer- and foundation-model-based segmenters outperform it. Every downstream result — registration, volumetry, classifier training — still rests on the 2022 segmentations.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In both cases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The ADR is intact. The evidence underneath it isn’t. Nothing told you to revisit.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Decisions as Hypotheses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haft makes decisions expire — the way hypotheses should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haft is an MCP server that treats consequential decisions the way you already treat hypotheses: explicit claims, evidence bounds, expiration dates, supersession when the field moves.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Lineage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Inspired by FPF (First Principles Framework, Anatoly Levenchuk) — systems engineering with an epistemic-governance mindset. haft implements an opinionated subset as an MCP server; FPF is broader.</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cycle, mapped onto research practice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Frame — problem, constraints, acceptance criteria (a testable hypothesis)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a portfolio of methods (no premature winner)</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Compare — explicit tradeoffs across your criteria (no collapsed score)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Decide — record with invariants and a verify_after date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Verify — re-check claims as evidence ages; trust score decays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Why This Matters in a Research Group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Decisions outlive the people who made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PhD students and postdocs cycle every 2–4 years — the decision graph outlives them</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Reviewer and advisor questions (“why this solver?”, “why this architecture?”) get a principled trail instead of post-hoc rationalization</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State of the art shifts — haft surfaces decisions whose evidence has aged out, so you revisit before you publish on top of them</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Handoff: when someone inherits your Python or C++ pipeline, the why travels with the code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Install and Daily Rhythm</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Two minutes to install — used at three different depths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Install</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https://quint.codes/install.sh | bash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Three depths for three kinds of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lightweight captures: hyperparameters, tolerances, solver settings (90-day auto-expiry)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Claude picks depth: just think, step-by-step, or full cycle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/h-verify — full cycle for algorithm choice, architecture, numerical-method commitments you will publish on top of</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Compatible with Cursor, Gemini CLI, Codex / Air, JetBrains Air. Full command table in the cheatsheet.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marL="0" indent="0" algn="r">
              <a:buNone/>
            </a:pPr>
            <a:r>
              <a:rPr lang="en-US" sz="24000" b="1" dirty="0">
                <a:solidFill>
                  <a:srgbClr val="191919"/>
                </a:solidFill>
                <a:latin typeface="Inter" pitchFamily="34" charset="0"/>
                <a:ea typeface="Inter" pitchFamily="34" charset="-122"/>
                <a:cs typeface="Inter" pitchFamily="34" charset="-120"/>
              </a:rPr>
              <a:t>24</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A graph issue tracker that Claude Code manages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Storage model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key idea</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Personal projects: install, init, done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-sSL https://raw.githubusercontent.com/steveyegge/beads/main/scripts/install.sh | bash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2: Initialize in your project</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--quiet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bd init --team is all you need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--team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Step 2: Team members join</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git clone https://github.com/org/project &amp;&amp; cd project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15 minutes — set up decision engineering and issue tracking</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In your project directory</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--quiet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Install the Beads plugin</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marketplace add steveyegge/beads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install beads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Verify both work</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dashboard, should show 0 decisions </a:t>
            </a:r>
            <a:endParaRPr lang="en-US" sz="1600" dirty="0"/>
          </a:p>
          <a:p>
            <a:pPr marL="0" indent="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ready       → Beads ready, no open issues yet </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Optional: try a quick decision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marL="0" indent="0" algn="r">
              <a:buNone/>
            </a:pPr>
            <a:r>
              <a:rPr lang="en-US" sz="24000" b="1" dirty="0">
                <a:solidFill>
                  <a:srgbClr val="191919"/>
                </a:solidFill>
                <a:latin typeface="Inter" pitchFamily="34" charset="0"/>
                <a:ea typeface="Inter" pitchFamily="34" charset="-122"/>
                <a:cs typeface="Inter" pitchFamily="34" charset="-120"/>
              </a:rPr>
              <a:t>29</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We are wired to delegate to tools — this is not a flaw</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feedback 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key distinction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These tools are part of the job now — the question is the posture you take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macro picture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Amodei’s core claim: we are compressing a century of economic evolution into 5–10 years. The speed is the problem, not the change itself. You can disagree with the number and still take the direction seriously.</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pencil argument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same shape with AI. Me plus the tool is more capable than me alone, but only while I’m still the one thinking. The moment that stops, the whole thing inverts.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working position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Learn to use these tools well. “Well” does not mean delegate everything — it means knowing which problems you still want to solve yourself, and being deliberate about the rest. That’s the whole workshop, really.</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A framework for calibrating how much AI does vs. you do</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HITL — Human-in-the-Loop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HOTL — Human-on-the-Loop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HOOTL — Human-out-of-the-Loop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The tool exists. The research exists. You choose how to use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How it fits with haft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cigarette analogy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3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Build your own guardrails — and test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What it does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Why this matters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txBody>
          <a:bodyPr/>
          <a:lstStyle/>
          <a:p>
            <a:endParaRPr lang="de-DE"/>
          </a:p>
        </p:txBody>
      </p:sp>
      <p:sp>
        <p:nvSpPr>
          <p:cNvPr id="4" name="Text 2"/>
          <p:cNvSpPr/>
          <p:nvPr/>
        </p:nvSpPr>
        <p:spPr>
          <a:xfrm>
            <a:off x="914400" y="1188720"/>
            <a:ext cx="10332720" cy="347472"/>
          </a:xfrm>
          <a:prstGeom prst="rect">
            <a:avLst/>
          </a:prstGeom>
          <a:noFill/>
          <a:ln/>
        </p:spPr>
        <p:txBody>
          <a:bodyPr wrap="square" lIns="0" tIns="0" rIns="0" bIns="0" rtlCol="0" anchor="ctr"/>
          <a:lstStyle/>
          <a:p>
            <a:pPr marL="0" indent="0">
              <a:buNone/>
            </a:pPr>
            <a:r>
              <a:rPr lang="en-US" sz="1500" dirty="0">
                <a:solidFill>
                  <a:srgbClr val="888888"/>
                </a:solidFill>
                <a:latin typeface="Inter" pitchFamily="34" charset="0"/>
                <a:ea typeface="Inter" pitchFamily="34" charset="-122"/>
                <a:cs typeface="Inter" pitchFamily="34" charset="-120"/>
              </a:rPr>
              <a:t>Resources, starter kit, and next steps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0" indent="0">
              <a:spcAft>
                <a:spcPts val="400"/>
              </a:spcAft>
              <a:buNone/>
            </a:pPr>
            <a:r>
              <a:rPr lang="en-US" sz="17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marL="0" indent="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7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marL="0" indent="0">
              <a:spcAft>
                <a:spcPts val="400"/>
              </a:spcAft>
              <a:buNone/>
            </a:pP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35</a:t>
            </a:r>
            <a:endParaRPr lang="en-US" sz="1100" dirty="0"/>
          </a:p>
        </p:txBody>
      </p:sp>
      <p:sp>
        <p:nvSpPr>
          <p:cNvPr id="8" name="Textfeld 7">
            <a:extLst>
              <a:ext uri="{FF2B5EF4-FFF2-40B4-BE49-F238E27FC236}">
                <a16:creationId xmlns:a16="http://schemas.microsoft.com/office/drawing/2014/main" id="{1CB0C712-AE0A-0A5A-402D-C2F9C4CA8F4A}"/>
              </a:ext>
            </a:extLst>
          </p:cNvPr>
          <p:cNvSpPr txBox="1"/>
          <p:nvPr/>
        </p:nvSpPr>
        <p:spPr>
          <a:xfrm>
            <a:off x="8260584" y="2967335"/>
            <a:ext cx="2803656" cy="923330"/>
          </a:xfrm>
          <a:prstGeom prst="rect">
            <a:avLst/>
          </a:prstGeom>
          <a:noFill/>
        </p:spPr>
        <p:txBody>
          <a:bodyPr wrap="square" rtlCol="0">
            <a:spAutoFit/>
          </a:bodyPr>
          <a:lstStyle/>
          <a:p>
            <a:r>
              <a:rPr lang="en-US" sz="3600" b="1" dirty="0">
                <a:solidFill>
                  <a:srgbClr val="000000"/>
                </a:solidFill>
                <a:latin typeface="Inter" panose="02000503000000020004" pitchFamily="2" charset="0"/>
                <a:ea typeface="Inter" panose="02000503000000020004" pitchFamily="2" charset="0"/>
                <a:cs typeface="Inter" panose="02000503000000020004" pitchFamily="2" charset="0"/>
              </a:rPr>
              <a:t>Questions?</a:t>
            </a:r>
            <a:endParaRPr lang="en-US" sz="3600" dirty="0">
              <a:latin typeface="Inter" panose="02000503000000020004" pitchFamily="2" charset="0"/>
              <a:ea typeface="Inter" panose="02000503000000020004" pitchFamily="2" charset="0"/>
              <a:cs typeface="Inter" panose="02000503000000020004" pitchFamily="2" charset="0"/>
            </a:endParaRPr>
          </a:p>
          <a:p>
            <a:endParaRPr lang="de-DE"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7704</Words>
  <Application>Microsoft Macintosh PowerPoint</Application>
  <PresentationFormat>Breitbild</PresentationFormat>
  <Paragraphs>579</Paragraphs>
  <Slides>35</Slides>
  <Notes>35</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35</vt:i4>
      </vt:variant>
    </vt:vector>
  </HeadingPairs>
  <TitlesOfParts>
    <vt:vector size="39" baseType="lpstr">
      <vt:lpstr>Arial</vt:lpstr>
      <vt:lpstr>Consolas</vt:lpstr>
      <vt:lpstr>Inter</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2</cp:revision>
  <dcterms:created xsi:type="dcterms:W3CDTF">2026-04-15T13:29:39Z</dcterms:created>
  <dcterms:modified xsi:type="dcterms:W3CDTF">2026-04-15T13:36:43Z</dcterms:modified>
</cp:coreProperties>
</file>