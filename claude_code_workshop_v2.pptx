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people ~10 minutes here. Walk the room. Common issues: Node.js version conflicts (Claude Code uses its own runtime, ignore these), auth failures (check they're using the right account), PATH not updated after install (restart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opusplan is documented at code.claude.com/docs/en/model-config
Effort level (low/medium/high) is also configurable: in settings.json as 'effortLevel', mid-session with /effort, or --effort flag at launch. 'max' effort is Opus 4.6 only and session-scoped — doesn't persist to settings.
The /model picker also has a left/right arrow slider for effort level when you select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Permission rule syntax supports glob patterns: Bash(git *) allows any git subcommand. Bash(npm test) allows exactly npm test.
All env vars can also be set in settings.json under the env key.
effortLevel accepts: low, medium, high. Note: max effort is session-scoped only and cannot be set in settings.json.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Papers:
- Gloaguen et al. (2026): arxiv.org/abs/2602.11988
- SkillsBench: arxiv.org/abs/2602.12670
On tool-generated CLAUDE.md: Beads writes .beads/CLAUDE.md (or project-level), haft writes to .haft/. Claude loads all discovered CLAUDE.md files in the project. You don't need to manually maintain those — just don't let them bloat your own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around and ask people what rule they added. Good examples to share: language/framework preferences, testing conventions, forbidden patterns, naming conventions. Bad examples: generic advice Claude already knows.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details: code.claude.com/docs/en/data-usage
For journal peer review: most journals now acknowledge AI-assisted review. If the paper is publicly available (arxiv, preprint server), there is no confidentiality concern. For embargoed submissions, check the specific journal's AI policy before using Claude.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 override: set CLAUDE_CODE_SUBAGENT_MODEL env var to force all subagents to use a specific model.
Model resolution order: env var &gt; per-invocation parameter &gt; frontmatter &gt; inherit from parent.
Subagents cannot spawn other subagents. For parallel work, use agent teams (separate sessions that communicate).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daily workflow: I use /h-frame for tough architectural decisions where I want to drive each step myself. /h-note for quick rationale captures. /h-reason when I want Claude to figure out the right depth.
/h-onboard scans an existing project for architecture knowledge. /h-search is full-text search across all artifacts.
Note: renamed from Quint Codes in v6.0 — all /q-* commands are now /h-*. The .quint/ directory migrates automatically to .haft/ on first haft init.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good moment for a short break if you haven't had one — people can grab coffee while tools install. Common issue: Beads plugin needs uv installed first (the install.sh handles this, but if someone skipped it: curl -LsSf https://astral.sh/uv/install.sh | 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references:
- Kim (2026): 'From Algorithm Aversion to AI Dependence' — framework of Division of Cognitive Labor + Metacognitive Oversight
- Psychology Today (2026): 'Adults Lose Skills to AI. Children Never Build Them.'
- MDPI (2025): 'Cognitive Atrophy Paradox of AI–Human Interaction'
Discussion prompt for audience: When did you last solve a problem without reaching for an AI tool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Amodei at Davos (Jan 2026): cnbc.com/2026/01/27/dario-amodei-warns-ai-cause-unusually-painful-disruption-jobs.html
- 'Machines of Loving Grace' essay: darioamodei.com/essay/machines-of-loving-grace
- David Deutsch pencil quote via Ivan Zakutnii (haft developer)
Discussion prompt: Do you agree with the 50% prediction? What does it mean for your field specifically?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Ivan Zakutnii (haft developer) on the complementarity:
'If you have deskilling gates, something that forces you to stop and S2-think about the problem — do it before the /h-frame. Then put everything you thought and wrote into the h-frame as a prompt. The FPF cycle will validate and structure your thinking rather than replace it.'
haft commands in this context:
- /h-frame: you drive the decision step by step (HITL approach)
- /h-reason: Claude auto-selects depth — might just think, or run the full cycle
- /h-note: quick micro-decision capture for smaller calls
Per-project config example (.anti-deskilling/config.yaml):
hitl: [FE formulation, solver debugging, MPI patterns]
hotl: [CMake config, test scaffolding, code review]
hootl: [formatting, boilerplate, doc scaffolding]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Description optimization: the skill creator can also auto-optimize a skill's trigger description. It generates 20 test queries (10 should-trigger, 10 should-not), then iterates up to 5 times to maximize triggering accuracy.
Repo: github.com/anthropics/skills
Paper: arxiv.org/abs/2602.12670 (SkillsBench)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Ollama integration: You can run Claude Code against local open-source models via Ollama. It provides an Anthropic-compatible API.
Quick start: ollama launch claude
Or with a specific model: ollama launch claude --model kimi-k2.5:cloud
Manual setup:
export ANTHROPIC_AUTH_TOKEN=ollama
export ANTHROPIC_API_KEY=""
export ANTHROPIC_BASE_URL=http://localhost:11434
claude --model qwen3.5
Requires at least 64k context length. Details: docs.ollama.com/integrations/claude-code
Papers referenced:
- Gloaguen et al. (2025): arxiv.org/abs/2602.11988
- SkillsBench: arxiv.org/abs/2602.12670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2011680"/>
            <a:ext cx="10332720" cy="1371600"/>
          </a:xfrm>
          <a:prstGeom prst="rect">
            <a:avLst/>
          </a:prstGeom>
          <a:noFill/>
          <a:ln/>
        </p:spPr>
        <p:txBody>
          <a:bodyPr wrap="square" lIns="0" tIns="0" rIns="0" bIns="0" rtlCol="0" anchor="ctr"/>
          <a:lstStyle/>
          <a:p>
            <a:pPr algn="l" indent="0" marL="0">
              <a:buNone/>
            </a:pPr>
            <a:r>
              <a:rPr lang="en-US" sz="5400" b="1" dirty="0">
                <a:solidFill>
                  <a:srgbClr val="000000"/>
                </a:solidFill>
                <a:latin typeface="Inter" pitchFamily="34" charset="0"/>
                <a:ea typeface="Inter" pitchFamily="34" charset="-122"/>
                <a:cs typeface="Inter" pitchFamily="34" charset="-120"/>
              </a:rPr>
              <a:t>Claude Code</a:t>
            </a:r>
            <a:endParaRPr lang="en-US" sz="5400" dirty="0"/>
          </a:p>
        </p:txBody>
      </p:sp>
      <p:sp>
        <p:nvSpPr>
          <p:cNvPr id="3" name="Text 1"/>
          <p:cNvSpPr/>
          <p:nvPr/>
        </p:nvSpPr>
        <p:spPr>
          <a:xfrm>
            <a:off x="914400" y="3474720"/>
            <a:ext cx="10332720" cy="731520"/>
          </a:xfrm>
          <a:prstGeom prst="rect">
            <a:avLst/>
          </a:prstGeom>
          <a:noFill/>
          <a:ln/>
        </p:spPr>
        <p:txBody>
          <a:bodyPr wrap="square" lIns="0" tIns="0" rIns="0" bIns="0" rtlCol="0" anchor="ctr"/>
          <a:lstStyle/>
          <a:p>
            <a:pPr algn="l" indent="0" marL="0">
              <a:buNone/>
            </a:pPr>
            <a:r>
              <a:rPr lang="en-US" sz="2400" dirty="0">
                <a:solidFill>
                  <a:srgbClr val="888888"/>
                </a:solidFill>
                <a:latin typeface="Inter" pitchFamily="34" charset="0"/>
                <a:ea typeface="Inter" pitchFamily="34" charset="-122"/>
                <a:cs typeface="Inter" pitchFamily="34" charset="-120"/>
              </a:rPr>
              <a:t>A Practical Workshop</a:t>
            </a:r>
            <a:endParaRPr lang="en-US" sz="2400" dirty="0"/>
          </a:p>
        </p:txBody>
      </p:sp>
      <p:pic>
        <p:nvPicPr>
          <p:cNvPr id="4"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5" name="Text 2"/>
          <p:cNvSpPr/>
          <p:nvPr/>
        </p:nvSpPr>
        <p:spPr>
          <a:xfrm>
            <a:off x="914400" y="5029200"/>
            <a:ext cx="7315200" cy="457200"/>
          </a:xfrm>
          <a:prstGeom prst="rect">
            <a:avLst/>
          </a:prstGeom>
          <a:noFill/>
          <a:ln/>
        </p:spPr>
        <p:txBody>
          <a:bodyPr wrap="square" rtlCol="0" anchor="ctr"/>
          <a:lstStyle/>
          <a:p>
            <a:pPr indent="0" marL="0">
              <a:buNone/>
            </a:pPr>
            <a:r>
              <a:rPr lang="en-US" sz="1600" dirty="0">
                <a:solidFill>
                  <a:srgbClr val="888888"/>
                </a:solidFill>
                <a:latin typeface="Inter" pitchFamily="34" charset="0"/>
                <a:ea typeface="Inter" pitchFamily="34" charset="-122"/>
                <a:cs typeface="Inter" pitchFamily="34" charset="-120"/>
              </a:rPr>
              <a:t>Elias Karabelas  ·  NumeriCor GmbH</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Disclaimer</a:t>
            </a:r>
            <a:endParaRPr lang="en-US" sz="3000" dirty="0"/>
          </a:p>
        </p:txBody>
      </p:sp>
      <p:sp>
        <p:nvSpPr>
          <p:cNvPr id="3" name="Text 1"/>
          <p:cNvSpPr/>
          <p:nvPr/>
        </p:nvSpPr>
        <p:spPr>
          <a:xfrm>
            <a:off x="914400" y="1280160"/>
            <a:ext cx="10332720" cy="5029200"/>
          </a:xfrm>
          <a:prstGeom prst="rect">
            <a:avLst/>
          </a:prstGeom>
          <a:noFill/>
          <a:ln/>
        </p:spPr>
        <p:txBody>
          <a:bodyPr wrap="square" lIns="0" tIns="0" rIns="0" bIns="0" rtlCol="0" anchor="t"/>
          <a:lstStyle/>
          <a:p>
            <a:pPr indent="0" marL="0">
              <a:spcAft>
                <a:spcPts val="400"/>
              </a:spcAft>
              <a:buNone/>
            </a:pPr>
            <a:r>
              <a:rPr lang="en-US" sz="1600" dirty="0">
                <a:solidFill>
                  <a:srgbClr val="000000"/>
                </a:solidFill>
                <a:latin typeface="Inter" pitchFamily="34" charset="0"/>
                <a:ea typeface="Inter" pitchFamily="34" charset="-122"/>
                <a:cs typeface="Inter" pitchFamily="34" charset="-120"/>
              </a:rPr>
              <a:t>© 2026 Elias Karabelas · NumeriCor GmbH. All rights reserved.</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This workshop is presented by Elias Karabelas in a personal capacity. NumeriCor GmbH is aware of and supportive of this event, and the NumeriCor logo is used with permission. However, this workshop is not an official NumeriCor GmbH product or service. The content, views, and recommendations expressed here are solely those of the presenter and do not constitute NumeriCor’s advice, offerings, or business activities.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These materials are provided for educational purposes only. The author makes no warranties, express or implied, regarding the accuracy, completeness, or fitness for any particular purpose of the information contained herein.</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Third-party tools referenced — Claude Code, haft, Beads — are subject to their own terms, pricing, and availability, and may change at any time without notice. Always verify current documentation before relying on any workflow described here.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No part of this presentation may be reproduced or distributed without prior written permission. Questions: elias.karabelas@numericor.at</a:t>
            </a:r>
            <a:endParaRPr lang="en-US" sz="1600" dirty="0"/>
          </a:p>
        </p:txBody>
      </p:sp>
      <p:pic>
        <p:nvPicPr>
          <p:cNvPr id="4"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5" name="Text 2"/>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Agenda</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What we will cover today</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marL="342900" indent="-342900">
              <a:spcAft>
                <a:spcPts val="400"/>
              </a:spcAft>
              <a:buSzPct val="100000"/>
              <a:buChar char="•"/>
            </a:pPr>
            <a:r>
              <a:rPr lang="en-US" sz="1600" b="1" dirty="0">
                <a:solidFill>
                  <a:srgbClr val="000000"/>
                </a:solidFill>
                <a:latin typeface="Inter" pitchFamily="34" charset="0"/>
                <a:ea typeface="Inter" pitchFamily="34" charset="-122"/>
                <a:cs typeface="Inter" pitchFamily="34" charset="-120"/>
              </a:rPr>
              <a:t>Fundamentals — Install, CLI, operating modes, configuration, CLAUDE.md</a:t>
            </a:r>
            <a:endParaRPr lang="en-US" sz="1600" dirty="0"/>
          </a:p>
          <a:p>
            <a:pPr marL="342900" indent="-342900">
              <a:spcAft>
                <a:spcPts val="400"/>
              </a:spcAft>
              <a:buSzPct val="100000"/>
              <a:buChar char="•"/>
            </a:pPr>
            <a:r>
              <a:rPr lang="en-US" sz="1600" b="1" dirty="0">
                <a:solidFill>
                  <a:srgbClr val="000000"/>
                </a:solidFill>
                <a:latin typeface="Inter" pitchFamily="34" charset="0"/>
                <a:ea typeface="Inter" pitchFamily="34" charset="-122"/>
                <a:cs typeface="Inter" pitchFamily="34" charset="-120"/>
              </a:rPr>
              <a:t>Privacy &amp; Tokens — Data policies, model selection, cost control</a:t>
            </a:r>
            <a:endParaRPr lang="en-US" sz="1600" dirty="0"/>
          </a:p>
          <a:p>
            <a:pPr marL="342900" indent="-342900">
              <a:spcAft>
                <a:spcPts val="400"/>
              </a:spcAft>
              <a:buSzPct val="100000"/>
              <a:buChar char="•"/>
            </a:pPr>
            <a:r>
              <a:rPr lang="en-US" sz="1600" b="1" dirty="0">
                <a:solidFill>
                  <a:srgbClr val="000000"/>
                </a:solidFill>
                <a:latin typeface="Inter" pitchFamily="34" charset="0"/>
                <a:ea typeface="Inter" pitchFamily="34" charset="-122"/>
                <a:cs typeface="Inter" pitchFamily="34" charset="-120"/>
              </a:rPr>
              <a:t>Skills, Plugins &amp; Subagents — Customization and the extension ecosystem</a:t>
            </a:r>
            <a:endParaRPr lang="en-US" sz="1600" dirty="0"/>
          </a:p>
          <a:p>
            <a:pPr marL="342900" indent="-342900">
              <a:spcAft>
                <a:spcPts val="400"/>
              </a:spcAft>
              <a:buSzPct val="100000"/>
              <a:buChar char="•"/>
            </a:pPr>
            <a:r>
              <a:rPr lang="en-US" sz="1600" b="1" dirty="0">
                <a:solidFill>
                  <a:srgbClr val="000000"/>
                </a:solidFill>
                <a:latin typeface="Inter" pitchFamily="34" charset="0"/>
                <a:ea typeface="Inter" pitchFamily="34" charset="-122"/>
                <a:cs typeface="Inter" pitchFamily="34" charset="-120"/>
              </a:rPr>
              <a:t>haft — Decision engineering as an MCP server</a:t>
            </a:r>
            <a:endParaRPr lang="en-US" sz="1600" dirty="0"/>
          </a:p>
          <a:p>
            <a:pPr marL="342900" indent="-342900">
              <a:spcAft>
                <a:spcPts val="400"/>
              </a:spcAft>
              <a:buSzPct val="100000"/>
              <a:buChar char="•"/>
            </a:pPr>
            <a:r>
              <a:rPr lang="en-US" sz="1600" b="1" dirty="0">
                <a:solidFill>
                  <a:srgbClr val="000000"/>
                </a:solidFill>
                <a:latin typeface="Inter" pitchFamily="34" charset="0"/>
                <a:ea typeface="Inter" pitchFamily="34" charset="-122"/>
                <a:cs typeface="Inter" pitchFamily="34" charset="-120"/>
              </a:rPr>
              <a:t>Beads — Graph-based issue tracking with Git integration</a:t>
            </a:r>
            <a:endParaRPr lang="en-US" sz="1600" dirty="0"/>
          </a:p>
          <a:p>
            <a:pPr marL="342900" indent="-342900">
              <a:spcAft>
                <a:spcPts val="400"/>
              </a:spcAft>
              <a:buSzPct val="100000"/>
              <a:buChar char="•"/>
            </a:pPr>
            <a:r>
              <a:rPr lang="en-US" sz="1600" b="1" dirty="0">
                <a:solidFill>
                  <a:srgbClr val="000000"/>
                </a:solidFill>
                <a:latin typeface="Inter" pitchFamily="34" charset="0"/>
                <a:ea typeface="Inter" pitchFamily="34" charset="-122"/>
                <a:cs typeface="Inter" pitchFamily="34" charset="-120"/>
              </a:rPr>
              <a:t>Anti-Deskilling — HITL/HOTL/HOOTL framework + Skill Creator</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Hands-on session: bring your laptop, your codebase, and your questions.</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Starter kit provided: template configs, CLAUDE.md, SKILL.md, cheat sheet.</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What is Claude Code?</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An agentic coding tool that lives in your terminal</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600" dirty="0">
                <a:solidFill>
                  <a:srgbClr val="000000"/>
                </a:solidFill>
                <a:latin typeface="Inter" pitchFamily="34" charset="0"/>
                <a:ea typeface="Inter" pitchFamily="34" charset="-122"/>
                <a:cs typeface="Inter" pitchFamily="34" charset="-120"/>
              </a:rPr>
              <a:t>Claude Code is Anthropic’s command-line tool that brings Claude directly into your development workflow. It reads your codebase, edits files, runs commands, and manages git—all through natural language.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Key capabilities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Full codebase awareness — understands project structure and dependencies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File editing — creates, modifies, and refactors code across multiple files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Shell integration — runs tests, builds, lints, and git commands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Multi-agent workflows — spawns subagents for parallel tasks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Extended thinking — deep reasoning for complex architectural decisions</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Installing Claude Code</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Up and running in under two minutes</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Prerequisites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No dependencies — the native installer is self-contained (no Node.js or npm needed)</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1: Install</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curl -fsSL https://claude.ai/install.sh | bash</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2: Launch</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cd your-project &amp;&amp; claude</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Authenticate on first launch via your Anthropic account or API key.</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3: Verify</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Type /help to see available commands. You’re ready.</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 Exercise 1 — Install &amp; Authenticate</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10 minutes — get Claude Code running on your machine</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Run the starter kit installer</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bash install.sh</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This installs Claude Code, haft, uv, and Beads in one shot. If you prefer step-by-step, the commands are in the cheatsheet.</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Launch and authenticate</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cd your-project &amp;&amp; claude</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Sign in with your Anthropic account on first launch. If you’re on a team plan, use that account — your data won’t be used for training.</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Verify everything works</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/help          → should show available commands</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/h-status      → haft connected</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bd doctor      → Beads healthy</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Stuck? Check the Troubleshooting section in the README, or ask.</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Navigating the CLI</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Essential commands and workflow patterns</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Core commands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/help — List all available slash commands and skills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/compact — Compress context when conversation gets long</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/clear — Start a fresh conversation (same project)</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/config — Open the settings interface</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/init — Create a CLAUDE.md project memory file</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/agents — Create and manage custom subagents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/btw — Ask a side question without adding to conversation history</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Session management</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claude -c — Continue most recent conversation</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claude -r "name" — Resume a named session</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claude -n "name" — Start a session with a display name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Power shortcuts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Esc + Esc — Rewind to a previous checkpoint (undo Claude’s edits)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Option+P / Alt+P — Switch model mid-session without clearing context</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Model Strategy</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Pick the right model — or let opusplan do it for you</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The opusplan alias — official Anthropic feature</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claude --model opusplan</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Automatically uses Opus in Plan Mode for reasoning and architecture, then switches to Sonnet for execution. Best of both: Opus-quality planning, Sonnet cost and speed for implementation.</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Manual model selection</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haiku — exploration, quick lookups, simple mechanical edits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sonnet — general coding, reviews, most daily tasks (default)</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opus — hard debugging, architecture decisions, complex reasoning</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Switch any time — without clearing your session</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/model sonnet          # mid-session command</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Or press Option+P (macOS) / Alt+P (Windows/Linux) to open the model picker. Requires Option as Meta in your terminal settings.</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Three Operating Modes</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Control how much autonomy Claude has — Shift+Tab to cycle</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Plan Mode — start here</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Read-only exploration: Claude searches files, analyzes architecture, and reasons about your codebase — but cannot make any changes. Generates a structured plan in .claude/plans/ for you to review. This is where I start most tasks.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Normal Mode (default)</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Claude proposes edits and commands but asks for confirmation before each change. You review every diff. Switch here once you’ve reviewed the plan and are ready to execute.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Auto-Accept Edits Mode</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Claude applies file edits automatically without confirmation. Use sparingly — only when you’re certain nothing will break. Useful for mechanical tasks like renaming or formatting.</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How to switch</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Shift+Tab — cycles through all enabled modes (order depends on your config)</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/plan — enters Plan Mode directly</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My workflow: Plan Mode first → review → Normal Mode for execution. Auto-accept is the exception, not the rule.</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Configuration: Four Scopes</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Which level changes what — and what to commit</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Priority order (highest to lowest)</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Managed — Organization-wide policies. You can’t override these.</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Local — .claude/settings.local.json — your personal overrides, gitignored</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Project — .claude/settings.json — shared with team via git</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User — ~/.claude/settings.json — your global defaults, all projects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What goes where</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User scope: your default model, global MCP servers, personal permissions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Project scope: shared tool restrictions, required plugins, team conventions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Local scope: your API key overrides, local-only MCP servers, experiments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What to commit to git</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.claude/settings.json, .claude/agents/, .claude/skills/, CLAUDE.md</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Never commit: settings.local.json, API keys, personal paths.</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Configuration: Practical Examples</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Concrete JSON snippets you can copy</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Model defaults</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{"model": "opusplan",</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 "effortLevel": "high"}</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Safe mode: whitelist only read + git commands</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{"permissions": {"allow": ["Read", "Bash(git *)"],</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                "deny": ["Edit", "Write", "Bash"]}}</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Auto-approve safe tools (project-level)</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{"permissions": {"allow": ["Read", "Glob", "Grep",</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  "Bash(npm test)", "Bash(npm run build)"]}}</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Privacy environment variables (inside settings.json or shell)</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"env": {"DISABLE_TELEMETRY": "1",</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        "DISABLE_ERROR_REPORTING": "1"}</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Template files provided in the starter kit. Copy and adapt.</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CLAUDE.md Best Practices</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Less is more — defaults first, deviate when necessary</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What the research says</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Gloaguen et al. (2026) found verbose AGENTS.md files reduce task success by ~4% and increase cost by ~20%. Auto-generated context files perform even worse. What works: encoding tribal knowledge that Claude cannot infer from the code itself.</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What you write vs. what tools generate</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Beads auto-generates a project CLAUDE.md with issue tracking instructions. Haft injects decision context. These are separate files — you don’t own them and shouldn’t merge them into yours. Keep your global ~/.claude/CLAUDE.md focused on what you write intentionally.</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Practical rules for what you write</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Keep your own content concise — add a rule only after observing Claude fail on a specific pattern</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Use positive framing: "use Y for X" beats "never use Z"</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Focus on the why — architectural decisions, constraints, non-obvious conventions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Think of CLAUDE.md as CONTRIBUTING.md: what any new contributor (human or AI) needs to know that they can’t infer from the code.</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 Exercise 2 — Configure Your Setup</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15 minutes — make Claude Code yours</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1. Copy the user settings template</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cp starter-kit/user-settings.json ~/.claude/settings.json</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Open it and set your preferred model. opusplan is a good default if you’re on a paid plan.</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2. The global CLAUDE.md is already installed</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The install.sh copied it to ~/.claude/CLAUDE.md. Open it and read through the communication style and thinking principles sections — these apply to every project.</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3. Add one rule from your own codebase</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Think of one thing Claude consistently gets wrong in your project. Add it as a single line to CLAUDE.md. That’s the whole exercise.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This is intentionally small. One rule you’ll actually keep beats a comprehensive file you’ll never update.</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VS Code Integration</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Claude Code inside your editor</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600" dirty="0">
                <a:solidFill>
                  <a:srgbClr val="000000"/>
                </a:solidFill>
                <a:latin typeface="Inter" pitchFamily="34" charset="0"/>
                <a:ea typeface="Inter" pitchFamily="34" charset="-122"/>
                <a:cs typeface="Inter" pitchFamily="34" charset="-120"/>
              </a:rPr>
              <a:t>Claude Code can run in VS Code’s integrated terminal, but a dedicated extension adds deeper editor integration.</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Setup</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Install the Claude Code VS Code extension from the marketplace</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Or simply run claude in VS Code’s terminal</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Use Cmd+Shift+P (Mac) or Ctrl+Shift+P and search “Claude”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Pro tip</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The CLI and VS Code extension share the same session context. You can switch between them.</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Data Privacy &amp; Compliance</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What Anthropic sees, stores, and trains on</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Training policy</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Team / Enterprise / API: Anthropic never trains on your data — safe by default</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Free / Pro / Max: training is ON by default since Sep 2025 — opt out at claude.ai/settings/data-privacy-controls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Data retention</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Opted out of training: 30-day retention, then deleted</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Opted in to training: 5-year retention</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Enterprise: Zero Data Retention (ZDR) available on request</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Telemetry opt-out</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DISABLE_TELEMETRY=1   DISABLE_ERROR_REPORTING=1</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In context: how does this compare?</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GitHub Copilot, Overleaf, Google Colab — your code already lives on their servers with similar or longer retention. Claude’s policies are comparable; the opt-out is clearer.</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Journal reviews: if the paper is on arxiv, no confidentiality issue. Check journal policy for embargoed manuscripts.</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SKILLS.md &amp; Custom Skills</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Teach Claude new capabilities with markdown files</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What are Skills?</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 SKILL.md file with YAML frontmatter + markdown instructions. Claude loads it when relevant or you invoke it with /skill-name.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Where skills live (scope matters!)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Personal — ~/.claude/skills/&lt;name&gt;/SKILL.md (all your projects)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Project — .claude/skills/&lt;name&gt;/SKILL.md (shared with team via git)</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Plugin — bundled inside a plugin package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Skill anatomy</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name: my-skill</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description: When to trigger this skill</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Instructions for Claude go here...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Keep SKILL.md under 500 lines. Use bundled resources/ for larger references.</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Plugins &amp; MCP Servers</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The Claude Code extension ecosystem</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MCP (Model Context Protocol)</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MCP servers are backend services that give Claude new tools—database access, API integrations, specialized reasoning engines. Configured in .mcp.json (project) or ~/.claude.json (global).</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Plugins</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Plugins bundle skills, agents, hooks, and MCP servers into shareable packages. Install from marketplaces or load locally.</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Key commands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/plugin install &lt;url&gt; — Install a plugin from a marketplace</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--plugin-dir ./my-plugin — Load a local plugin for testing</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/reload-plugins — Reload after making changes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haft (next section) is an MCP server that integrates via plugin. This is the pattern.</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Subagents &amp; Model Control</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How Claude delegates work — and how you can fine-tune it</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Built-in subagents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Explore → Haiku (fast, read-only codebase search)</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Plan → inherits your model (research for planning)</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General-purpose → inherits your model (complex multi-step tasks)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Custom subagents: full control</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Define in ~/.claude/agents/ (personal) or .claude/agents/ (project). Each subagent can have its own model, effort level, tool restrictions, permission mode, and MCP servers.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name: paper-reviewer</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model: opus</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tools: Read, Grep, Glob</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permissionMode: plan</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You are a scientific paper reviewer...</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Use /agents to create interactively, or write the markdown file directly.</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14400" y="2194560"/>
            <a:ext cx="10332720" cy="1188720"/>
          </a:xfrm>
          <a:prstGeom prst="rect">
            <a:avLst/>
          </a:prstGeom>
          <a:noFill/>
          <a:ln/>
        </p:spPr>
        <p:txBody>
          <a:bodyPr wrap="square" lIns="0" tIns="0" rIns="0" bIns="0" rtlCol="0" anchor="ctr"/>
          <a:lstStyle/>
          <a:p>
            <a:pPr algn="l" indent="0" marL="0">
              <a:buNone/>
            </a:pPr>
            <a:r>
              <a:rPr lang="en-US" sz="4400" b="1" dirty="0">
                <a:solidFill>
                  <a:srgbClr val="FFFFFF"/>
                </a:solidFill>
                <a:latin typeface="Inter" pitchFamily="34" charset="0"/>
                <a:ea typeface="Inter" pitchFamily="34" charset="-122"/>
                <a:cs typeface="Inter" pitchFamily="34" charset="-120"/>
              </a:rPr>
              <a:t>haft</a:t>
            </a:r>
            <a:endParaRPr lang="en-US" sz="4400" dirty="0"/>
          </a:p>
        </p:txBody>
      </p:sp>
      <p:sp>
        <p:nvSpPr>
          <p:cNvPr id="3" name="Text 1"/>
          <p:cNvSpPr/>
          <p:nvPr/>
        </p:nvSpPr>
        <p:spPr>
          <a:xfrm>
            <a:off x="914400" y="3474720"/>
            <a:ext cx="10332720" cy="731520"/>
          </a:xfrm>
          <a:prstGeom prst="rect">
            <a:avLst/>
          </a:prstGeom>
          <a:noFill/>
          <a:ln/>
        </p:spPr>
        <p:txBody>
          <a:bodyPr wrap="square" lIns="0" tIns="0" rIns="0" bIns="0" rtlCol="0" anchor="ctr"/>
          <a:lstStyle/>
          <a:p>
            <a:pPr algn="l" indent="0" marL="0">
              <a:buNone/>
            </a:pPr>
            <a:r>
              <a:rPr lang="en-US" sz="2000" dirty="0">
                <a:solidFill>
                  <a:srgbClr val="CCCCCC"/>
                </a:solidFill>
                <a:latin typeface="Inter" pitchFamily="34" charset="0"/>
                <a:ea typeface="Inter" pitchFamily="34" charset="-122"/>
                <a:cs typeface="Inter" pitchFamily="34" charset="-120"/>
              </a:rPr>
              <a:t>Decision Engineering as an MCP Server</a:t>
            </a:r>
            <a:endParaRPr lang="en-US" sz="2000" dirty="0"/>
          </a:p>
        </p:txBody>
      </p:sp>
      <p:sp>
        <p:nvSpPr>
          <p:cNvPr id="4" name="Text 2"/>
          <p:cNvSpPr/>
          <p:nvPr/>
        </p:nvSpPr>
        <p:spPr>
          <a:xfrm>
            <a:off x="914400" y="6400800"/>
            <a:ext cx="1645920" cy="365760"/>
          </a:xfrm>
          <a:prstGeom prst="rect">
            <a:avLst/>
          </a:prstGeom>
          <a:noFill/>
          <a:ln/>
        </p:spPr>
        <p:txBody>
          <a:bodyPr wrap="square" rtlCol="0" anchor="ctr"/>
          <a:lstStyle/>
          <a:p>
            <a:pPr algn="l" indent="0" marL="0">
              <a:buNone/>
            </a:pPr>
            <a:r>
              <a:rPr lang="en-US" sz="1100" dirty="0">
                <a:solidFill>
                  <a:srgbClr val="555555"/>
                </a:solidFill>
                <a:latin typeface="Inter" pitchFamily="34" charset="0"/>
                <a:ea typeface="Inter" pitchFamily="34" charset="-122"/>
                <a:cs typeface="Inter" pitchFamily="34" charset="-120"/>
              </a:rPr>
              <a:t>NumeriCor GmbH</a:t>
            </a:r>
            <a:endParaRPr lang="en-US" sz="1100" dirty="0"/>
          </a:p>
        </p:txBody>
      </p:sp>
      <p:sp>
        <p:nvSpPr>
          <p:cNvPr id="5"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555555"/>
                </a:solidFill>
                <a:latin typeface="Inter" pitchFamily="34" charset="0"/>
                <a:ea typeface="Inter" pitchFamily="34" charset="-122"/>
                <a:cs typeface="Inter"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Why Decision Engineering?</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The problem haft solves</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600" dirty="0">
                <a:solidFill>
                  <a:srgbClr val="000000"/>
                </a:solidFill>
                <a:latin typeface="Inter" pitchFamily="34" charset="0"/>
                <a:ea typeface="Inter" pitchFamily="34" charset="-122"/>
                <a:cs typeface="Inter" pitchFamily="34" charset="-120"/>
              </a:rPr>
              <a:t>AI assistants generate code fast, but the reasoning behind decisions gets lost. When you revisit a codebase months later, you can’t tell why an approach was chosen.</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haft provides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Structured decision records with traceability and lifecycle awareness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Pareto-front analysis to compare genuinely different solution variants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Trust scores (R_eff) that degrade over time, surfacing stale decisions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Codebase awareness with module detection and dependency graphs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Cross-project recall — decisions from other projects surface when relevant</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How it integrates</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haft runs as an MCP server. Install it, and a full set of slash commands appears directly in Claude Code.</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Installing haft</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Works with Claude Code, Cursor, Gemini CLI, JetBrains Air, and more</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1: Install</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curl -fsSL https://quint.codes/install.sh | bash</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2: Initialize in your project</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haft init</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Creates a .haft/ directory — safe to commit to version control.</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3: Verify</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Type /h-status inside Claude Code. An empty dashboard confirms it’s connected as an MCP server.</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Compatible tools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Claude Code (full support, default)</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Cursor, Gemini CLI, Codex CLI / Air, JetBrains Air</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haft in Action</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A full toolkit, not just one command</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The decision cycle (manual, step by step)</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/h-frame — Frame the problem: signal, constraints, acceptance criteria</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/h-char — Define comparison dimensions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/h-explore — Generate genuinely distinct solution variants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/h-compare — Pareto-front comparison across your criteria</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/h-decide — Record the decision as a contract with invariants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/h-verify — Check claims against reality; scan for code drift and stale decisions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Smart entry point</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/h-reason — Auto-selects depth: just think, step-by-step, or full autonomous cycle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Day-to-day commands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/h-note — Record a quick micro-decision (auto-expires in 90 days)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/h-status — Dashboard: active decisions, problems, coverage</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/h-problems — List active problems with readiness signals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/h-view — Audience projections: engineer, manager, audit</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14400" y="2194560"/>
            <a:ext cx="10332720" cy="1188720"/>
          </a:xfrm>
          <a:prstGeom prst="rect">
            <a:avLst/>
          </a:prstGeom>
          <a:noFill/>
          <a:ln/>
        </p:spPr>
        <p:txBody>
          <a:bodyPr wrap="square" lIns="0" tIns="0" rIns="0" bIns="0" rtlCol="0" anchor="ctr"/>
          <a:lstStyle/>
          <a:p>
            <a:pPr algn="l" indent="0" marL="0">
              <a:buNone/>
            </a:pPr>
            <a:r>
              <a:rPr lang="en-US" sz="4400" b="1" dirty="0">
                <a:solidFill>
                  <a:srgbClr val="FFFFFF"/>
                </a:solidFill>
                <a:latin typeface="Inter" pitchFamily="34" charset="0"/>
                <a:ea typeface="Inter" pitchFamily="34" charset="-122"/>
                <a:cs typeface="Inter" pitchFamily="34" charset="-120"/>
              </a:rPr>
              <a:t>Beads</a:t>
            </a:r>
            <a:endParaRPr lang="en-US" sz="4400" dirty="0"/>
          </a:p>
        </p:txBody>
      </p:sp>
      <p:sp>
        <p:nvSpPr>
          <p:cNvPr id="3" name="Text 1"/>
          <p:cNvSpPr/>
          <p:nvPr/>
        </p:nvSpPr>
        <p:spPr>
          <a:xfrm>
            <a:off x="914400" y="3474720"/>
            <a:ext cx="10332720" cy="731520"/>
          </a:xfrm>
          <a:prstGeom prst="rect">
            <a:avLst/>
          </a:prstGeom>
          <a:noFill/>
          <a:ln/>
        </p:spPr>
        <p:txBody>
          <a:bodyPr wrap="square" lIns="0" tIns="0" rIns="0" bIns="0" rtlCol="0" anchor="ctr"/>
          <a:lstStyle/>
          <a:p>
            <a:pPr algn="l" indent="0" marL="0">
              <a:buNone/>
            </a:pPr>
            <a:r>
              <a:rPr lang="en-US" sz="2000" dirty="0">
                <a:solidFill>
                  <a:srgbClr val="CCCCCC"/>
                </a:solidFill>
                <a:latin typeface="Inter" pitchFamily="34" charset="0"/>
                <a:ea typeface="Inter" pitchFamily="34" charset="-122"/>
                <a:cs typeface="Inter" pitchFamily="34" charset="-120"/>
              </a:rPr>
              <a:t>Graph-Based Issue Tracking for AI Agents</a:t>
            </a:r>
            <a:endParaRPr lang="en-US" sz="2000" dirty="0"/>
          </a:p>
        </p:txBody>
      </p:sp>
      <p:sp>
        <p:nvSpPr>
          <p:cNvPr id="4" name="Text 2"/>
          <p:cNvSpPr/>
          <p:nvPr/>
        </p:nvSpPr>
        <p:spPr>
          <a:xfrm>
            <a:off x="914400" y="6400800"/>
            <a:ext cx="1645920" cy="365760"/>
          </a:xfrm>
          <a:prstGeom prst="rect">
            <a:avLst/>
          </a:prstGeom>
          <a:noFill/>
          <a:ln/>
        </p:spPr>
        <p:txBody>
          <a:bodyPr wrap="square" rtlCol="0" anchor="ctr"/>
          <a:lstStyle/>
          <a:p>
            <a:pPr algn="l" indent="0" marL="0">
              <a:buNone/>
            </a:pPr>
            <a:r>
              <a:rPr lang="en-US" sz="1100" dirty="0">
                <a:solidFill>
                  <a:srgbClr val="555555"/>
                </a:solidFill>
                <a:latin typeface="Inter" pitchFamily="34" charset="0"/>
                <a:ea typeface="Inter" pitchFamily="34" charset="-122"/>
                <a:cs typeface="Inter" pitchFamily="34" charset="-120"/>
              </a:rPr>
              <a:t>NumeriCor GmbH</a:t>
            </a:r>
            <a:endParaRPr lang="en-US" sz="1100" dirty="0"/>
          </a:p>
        </p:txBody>
      </p:sp>
      <p:sp>
        <p:nvSpPr>
          <p:cNvPr id="5"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555555"/>
                </a:solidFill>
                <a:latin typeface="Inter" pitchFamily="34" charset="0"/>
                <a:ea typeface="Inter" pitchFamily="34" charset="-122"/>
                <a:cs typeface="Inter"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What is Beads?</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A graph issue tracker that Claude Code manages for you</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600" dirty="0">
                <a:solidFill>
                  <a:srgbClr val="000000"/>
                </a:solidFill>
                <a:latin typeface="Inter" pitchFamily="34" charset="0"/>
                <a:ea typeface="Inter" pitchFamily="34" charset="-122"/>
                <a:cs typeface="Inter" pitchFamily="34" charset="-120"/>
              </a:rPr>
              <a:t>Beads (bd) replaces flat TODO lists with a dependency-aware graph backed by Dolt, a version-controlled SQL database. Once set up, Claude Code handles all issue tracking automatically—you rarely touch bd commands yourself.</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Why Beads?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Hash-based task IDs prevent merge collisions in multi-agent work</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Dependency tracking and blocker detection built in</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Atomic task claiming — bd update &lt;id&gt; --claim prevents two agents grabbing the same task</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bd prime feeds open issues and context into Claude at session start</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Storage model</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Issues live in a local Dolt database under .beads/ — gitignored by default. For solo work that’s all you need. Teams sync via a separate Dolt remote (DoltHub, S3, GCS). The database is independent of your git history.</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The key idea</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You tell Claude what to build. Claude creates tasks in Beads, tracks progress, closes issues. Beads is the agent’s memory, not another tool for you to manage.</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Setting Up Beads — Solo</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Personal projects: install, init, done</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1: Install (Dolt is bundled — no separate install)</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curl -sSL https://raw.githubusercontent.com/steveyegge/beads/main/scripts/install.sh | bash</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2: Initialize in your project</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cd your-project &amp;&amp; bd init --quiet</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Creates a .beads/ directory with a local Dolt database. This directory is gitignored — your issue data stays local, separate from your code history.</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3: Wire into Claude Code</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CLAUDE.md — Beads auto-generates a project CLAUDE.md with issue tracking instructions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Plugin — /plugin marketplace add steveyegge/beads → /plugin install beads</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Plugin also needs uv: curl -LsSf https://astral.sh/uv/install.sh | sh</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That’s it. Claude creates/updates/closes issues as it works. You rarely touch bd yourself.</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Setting Up Beads — Teams</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bd init --team is all you need</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1: Project owner runs the wizard once</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cd your-project &amp;&amp; bd init --team</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Asks if main is protected. If yes, creates a beads-metadata branch for issue commits. Sets team.enabled = true. No external services, no DoltHub account — issues ride on your existing git repo.</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Step 2: Team members join</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git clone https://github.com/org/project &amp;&amp; cd project</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bd init</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That’s it. bd init auto-imports existing issues from the repo. No extra configuration needed.</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Ongoing sync</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Issues commit to main (or beads-metadata if main is protected)</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bd dolt push / bd dolt pull — or enable auto-commit in .beads/config.yaml</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Regular git push/pull keeps everyone in sync</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Protected main? The wizard creates a beads-metadata branch. Merge it to main periodically via PR.</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 Exercise 3 — Wire In haft &amp; Beads</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15 minutes — set up decision engineering and issue tracking</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In your project directory</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haft init</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bd init --quiet</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Install the Beads plugin</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/plugin marketplace add steveyegge/beads</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/plugin install beads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Verify both work</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/h-status      → haft dashboard, should show 0 decisions</a:t>
            </a:r>
            <a:endParaRPr lang="en-US" sz="1600" dirty="0"/>
          </a:p>
          <a:p>
            <a:pPr indent="0" marL="0">
              <a:spcAft>
                <a:spcPts val="400"/>
              </a:spcAft>
              <a:buNone/>
            </a:pPr>
            <a:r>
              <a:rPr lang="en-US" sz="1400" dirty="0">
                <a:solidFill>
                  <a:srgbClr val="000000"/>
                </a:solidFill>
                <a:latin typeface="Consolas" pitchFamily="34" charset="0"/>
                <a:ea typeface="Consolas" pitchFamily="34" charset="-122"/>
                <a:cs typeface="Consolas" pitchFamily="34" charset="-120"/>
              </a:rPr>
              <a:t>bd ready       → Beads ready, no open issues yet</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Optional: try a quick decision</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Describe a real technical choice you’re facing in your project. Type /h-reason and let haft walk through it. Even one cycle shows you how the framework feels.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Teams: one person runs bd init --team instead. Everyone else clones and runs bd init.</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914400" y="2194560"/>
            <a:ext cx="10332720" cy="1188720"/>
          </a:xfrm>
          <a:prstGeom prst="rect">
            <a:avLst/>
          </a:prstGeom>
          <a:noFill/>
          <a:ln/>
        </p:spPr>
        <p:txBody>
          <a:bodyPr wrap="square" lIns="0" tIns="0" rIns="0" bIns="0" rtlCol="0" anchor="ctr"/>
          <a:lstStyle/>
          <a:p>
            <a:pPr algn="l" indent="0" marL="0">
              <a:buNone/>
            </a:pPr>
            <a:r>
              <a:rPr lang="en-US" sz="4400" b="1" dirty="0">
                <a:solidFill>
                  <a:srgbClr val="FFFFFF"/>
                </a:solidFill>
                <a:latin typeface="Inter" pitchFamily="34" charset="0"/>
                <a:ea typeface="Inter" pitchFamily="34" charset="-122"/>
                <a:cs typeface="Inter" pitchFamily="34" charset="-120"/>
              </a:rPr>
              <a:t>Anti-Deskilling</a:t>
            </a:r>
            <a:endParaRPr lang="en-US" sz="4400" dirty="0"/>
          </a:p>
        </p:txBody>
      </p:sp>
      <p:sp>
        <p:nvSpPr>
          <p:cNvPr id="3" name="Text 1"/>
          <p:cNvSpPr/>
          <p:nvPr/>
        </p:nvSpPr>
        <p:spPr>
          <a:xfrm>
            <a:off x="914400" y="3474720"/>
            <a:ext cx="10332720" cy="731520"/>
          </a:xfrm>
          <a:prstGeom prst="rect">
            <a:avLst/>
          </a:prstGeom>
          <a:noFill/>
          <a:ln/>
        </p:spPr>
        <p:txBody>
          <a:bodyPr wrap="square" lIns="0" tIns="0" rIns="0" bIns="0" rtlCol="0" anchor="ctr"/>
          <a:lstStyle/>
          <a:p>
            <a:pPr algn="l" indent="0" marL="0">
              <a:buNone/>
            </a:pPr>
            <a:r>
              <a:rPr lang="en-US" sz="2000" dirty="0">
                <a:solidFill>
                  <a:srgbClr val="CCCCCC"/>
                </a:solidFill>
                <a:latin typeface="Inter" pitchFamily="34" charset="0"/>
                <a:ea typeface="Inter" pitchFamily="34" charset="-122"/>
                <a:cs typeface="Inter" pitchFamily="34" charset="-120"/>
              </a:rPr>
              <a:t>The Human Side of AI Tools</a:t>
            </a:r>
            <a:endParaRPr lang="en-US" sz="2000" dirty="0"/>
          </a:p>
        </p:txBody>
      </p:sp>
      <p:sp>
        <p:nvSpPr>
          <p:cNvPr id="4" name="Text 2"/>
          <p:cNvSpPr/>
          <p:nvPr/>
        </p:nvSpPr>
        <p:spPr>
          <a:xfrm>
            <a:off x="914400" y="6400800"/>
            <a:ext cx="1645920" cy="365760"/>
          </a:xfrm>
          <a:prstGeom prst="rect">
            <a:avLst/>
          </a:prstGeom>
          <a:noFill/>
          <a:ln/>
        </p:spPr>
        <p:txBody>
          <a:bodyPr wrap="square" rtlCol="0" anchor="ctr"/>
          <a:lstStyle/>
          <a:p>
            <a:pPr algn="l" indent="0" marL="0">
              <a:buNone/>
            </a:pPr>
            <a:r>
              <a:rPr lang="en-US" sz="1100" dirty="0">
                <a:solidFill>
                  <a:srgbClr val="555555"/>
                </a:solidFill>
                <a:latin typeface="Inter" pitchFamily="34" charset="0"/>
                <a:ea typeface="Inter" pitchFamily="34" charset="-122"/>
                <a:cs typeface="Inter" pitchFamily="34" charset="-120"/>
              </a:rPr>
              <a:t>NumeriCor GmbH</a:t>
            </a:r>
            <a:endParaRPr lang="en-US" sz="1100" dirty="0"/>
          </a:p>
        </p:txBody>
      </p:sp>
      <p:sp>
        <p:nvSpPr>
          <p:cNvPr id="5"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555555"/>
                </a:solidFill>
                <a:latin typeface="Inter" pitchFamily="34" charset="0"/>
                <a:ea typeface="Inter" pitchFamily="34" charset="-122"/>
                <a:cs typeface="Inter" pitchFamily="34" charset="-120"/>
              </a:rPr>
              <a:t>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Why We Offload</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We are wired to delegate to tools — this is not a flaw</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600" dirty="0">
                <a:solidFill>
                  <a:srgbClr val="000000"/>
                </a:solidFill>
                <a:latin typeface="Inter" pitchFamily="34" charset="0"/>
                <a:ea typeface="Inter" pitchFamily="34" charset="-122"/>
                <a:cs typeface="Inter" pitchFamily="34" charset="-120"/>
              </a:rPr>
              <a:t>Humans have always outsourced cognition. Writing replaced memorization. Calculators replaced mental arithmetic. GPS replaced spatial navigation. Each time, we traded a skill for efficiency. This is how we’re wired — if a tool makes something easier, we use it.</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AI is different in one critical way: it doesn’t just offload mechanical work, it offloads thinking itself. The research calls this the “Cognitive Atrophy Paradox” — moderate AI use enhances your capability, but over-delegation erodes your analytical autonomy.</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The feedback loop</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AI gives fluent, confident answers → you stop checking → your judgment atrophies → you depend more on AI → you stop checking even less. This is not hypothetical. It is measurable.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The key distinction</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An expert who offloads a task they understand is making a tradeoff. A junior who offloads a task they’ve never learned is skipping a developmental step. The capacity doesn’t exist yet. That’s where the real damage happens.</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The Landscape Is Shifting</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AI tools are here to stay — the question is how you use them</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The macro picture</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Dario Amodei (Anthropic CEO) at Davos 2026: AI will cause “unusually painful” workforce disruption. His estimate: 50% of entry-level white-collar jobs eliminated within 1–5 years. Other CEOs are more skeptical, but the direction is not in dispute.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His core argument: we are compressing a century of economic evolution into 5–10 years. The speed is the problem, not the change itself.</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The pencil argument</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“Me and my pencil are smarter than just myself.” (David Deutsch) — There is nothing different with AI. Me and AI are a lot smarter than just myself. The tool amplifies you. But only if you remain the one thinking.</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The bottom line</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Either you learn to work with these tools effectively, or you lose out. But “effectively” does not mean “delegate everything.” It means knowing when to think and when to let the tool think.</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Three Engagement Levels</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A framework for calibrating how much AI does vs. you do</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HITL — Human-in-the-Loop</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You do the thinking and writing. AI assists only when asked. For skills that define your professional identity: architecture, debugging, domain modeling.</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HOTL — Human-on-the-Loop</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AI drafts, you review and edit. Stay engaged enough to catch errors and learn from the output. Good for tasks you understand well.</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HOOTL — Human-out-of-the-Loop</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AI handles autonomously. Reserved for truly mechanical work: formatting, boilerplate, simple refactors, documentation scaffolding.</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The classification is personal. What’s HOOTL for a senior dev might need to be HITL for a junior. Be honest about where you are.</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Your Responsibility</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The tool exists. The research exists. You choose how to use it.</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My approach: anti-deskilling as a SKILL.md</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I maintain a SKILL.md that Claude loads automatically. It detects HITL moments and asks me to describe my approach before it generates anything. It watches for delegation drift across a session. It’s an ongoing project, not a finished product.</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How it fits with haft</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Anti-deskilling fires first → you think through the problem → haft captures and validates your thinking (via /h-frame or /h-reason) → the reasoning cycle structures it. The tools are complementary, not competing. Claude doesn’t drive the cycle if you didn’t ask it to.</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The cigarette analogy</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We know the risks. The information is available. But ultimately, it’s your responsibility how you use these tools. No framework can force you to stay sharp. Only you can decide to think before you delegate.</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400" i="1" dirty="0">
                <a:solidFill>
                  <a:srgbClr val="888888"/>
                </a:solidFill>
                <a:latin typeface="Inter" pitchFamily="34" charset="0"/>
                <a:ea typeface="Inter" pitchFamily="34" charset="-122"/>
                <a:cs typeface="Inter" pitchFamily="34" charset="-120"/>
              </a:rPr>
              <a:t>Human-first rounds: sketch your approach before handing a task to AI (Hosanagar, 2025).</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The Skill Creator</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Build your own guardrails — and test them</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What it does</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Anthropic’s meta-skill for creating, testing, and iteratively improving custom skills. Available at github.com/anthropics/skills.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The optimization loop</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1. Define skill intent → interview → write SKILL.md</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2. Create test cases (evals.json) with expected outputs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3. Run A/B: with-skill vs. baseline, graded automatically</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4. Review results in HTML viewer, provide feedback</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5. Iterate: improve skill, re-run evals, compare to previous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Why this matters</a:t>
            </a:r>
            <a:endParaRPr lang="en-US" sz="1600" dirty="0"/>
          </a:p>
          <a:p>
            <a:pPr indent="0" marL="0">
              <a:spcAft>
                <a:spcPts val="400"/>
              </a:spcAft>
              <a:buNone/>
            </a:pPr>
            <a:r>
              <a:rPr lang="en-US" sz="1600" dirty="0">
                <a:solidFill>
                  <a:srgbClr val="000000"/>
                </a:solidFill>
                <a:latin typeface="Inter" pitchFamily="34" charset="0"/>
                <a:ea typeface="Inter" pitchFamily="34" charset="-122"/>
                <a:cs typeface="Inter" pitchFamily="34" charset="-120"/>
              </a:rPr>
              <a:t>SkillsBench (2025): curated skills improve performance by ~16pp. Auto-generated skills give zero improvement. The lesson: craft by hand, then use the eval loop to refine. This applies to anti-deskilling skills too — build yours, test it, improve it.</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14400" y="457200"/>
            <a:ext cx="10332720" cy="640080"/>
          </a:xfrm>
          <a:prstGeom prst="rect">
            <a:avLst/>
          </a:prstGeom>
          <a:noFill/>
          <a:ln/>
        </p:spPr>
        <p:txBody>
          <a:bodyPr wrap="square" lIns="0" tIns="0" rIns="0" bIns="0" rtlCol="0" anchor="ctr"/>
          <a:lstStyle/>
          <a:p>
            <a:pPr indent="0" marL="0">
              <a:buNone/>
            </a:pPr>
            <a:r>
              <a:rPr lang="en-US" sz="3000" b="1" dirty="0">
                <a:solidFill>
                  <a:srgbClr val="000000"/>
                </a:solidFill>
                <a:latin typeface="Inter" pitchFamily="34" charset="0"/>
                <a:ea typeface="Inter" pitchFamily="34" charset="-122"/>
                <a:cs typeface="Inter" pitchFamily="34" charset="-120"/>
              </a:rPr>
              <a:t>Wrap Up</a:t>
            </a:r>
            <a:endParaRPr lang="en-US" sz="3000" dirty="0"/>
          </a:p>
        </p:txBody>
      </p:sp>
      <p:sp>
        <p:nvSpPr>
          <p:cNvPr id="3" name="Text 1"/>
          <p:cNvSpPr/>
          <p:nvPr/>
        </p:nvSpPr>
        <p:spPr>
          <a:xfrm>
            <a:off x="914400" y="1097280"/>
            <a:ext cx="10332720" cy="365760"/>
          </a:xfrm>
          <a:prstGeom prst="rect">
            <a:avLst/>
          </a:prstGeom>
          <a:noFill/>
          <a:ln/>
        </p:spPr>
        <p:txBody>
          <a:bodyPr wrap="square" lIns="0" tIns="0" rIns="0" bIns="0" rtlCol="0" anchor="ctr"/>
          <a:lstStyle/>
          <a:p>
            <a:pPr indent="0" marL="0">
              <a:buNone/>
            </a:pPr>
            <a:r>
              <a:rPr lang="en-US" sz="1600" dirty="0">
                <a:solidFill>
                  <a:srgbClr val="888888"/>
                </a:solidFill>
                <a:latin typeface="Inter" pitchFamily="34" charset="0"/>
                <a:ea typeface="Inter" pitchFamily="34" charset="-122"/>
                <a:cs typeface="Inter" pitchFamily="34" charset="-120"/>
              </a:rPr>
              <a:t>Resources, starter kit, and next steps</a:t>
            </a:r>
            <a:endParaRPr lang="en-US" sz="1600" dirty="0"/>
          </a:p>
        </p:txBody>
      </p:sp>
      <p:sp>
        <p:nvSpPr>
          <p:cNvPr id="4" name="Text 2"/>
          <p:cNvSpPr/>
          <p:nvPr/>
        </p:nvSpPr>
        <p:spPr>
          <a:xfrm>
            <a:off x="914400" y="1645920"/>
            <a:ext cx="10332720" cy="4663440"/>
          </a:xfrm>
          <a:prstGeom prst="rect">
            <a:avLst/>
          </a:prstGeom>
          <a:noFill/>
          <a:ln/>
        </p:spPr>
        <p:txBody>
          <a:bodyPr wrap="square" lIns="0" tIns="0" rIns="0" bIns="0" rtlCol="0" anchor="t"/>
          <a:lstStyle/>
          <a:p>
            <a:pPr indent="0" marL="0">
              <a:spcAft>
                <a:spcPts val="400"/>
              </a:spcAft>
              <a:buNone/>
            </a:pPr>
            <a:r>
              <a:rPr lang="en-US" sz="1800" b="1" dirty="0">
                <a:solidFill>
                  <a:srgbClr val="000000"/>
                </a:solidFill>
                <a:latin typeface="Inter" pitchFamily="34" charset="0"/>
                <a:ea typeface="Inter" pitchFamily="34" charset="-122"/>
                <a:cs typeface="Inter" pitchFamily="34" charset="-120"/>
              </a:rPr>
              <a:t>Links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Claude Code docs: code.claude.com/docs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haft: quint.codes/docs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Beads: github.com/steveyegge/beads</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Skill Creator: github.com/anthropics/skills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Your starter kit (provided)</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Template settings.json files (user-level + project-level)</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Template CLAUDE.md and SKILL.md</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CLI cheat sheet with all key flags and commands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1800" b="1" dirty="0">
                <a:solidFill>
                  <a:srgbClr val="000000"/>
                </a:solidFill>
                <a:latin typeface="Inter" pitchFamily="34" charset="0"/>
                <a:ea typeface="Inter" pitchFamily="34" charset="-122"/>
                <a:cs typeface="Inter" pitchFamily="34" charset="-120"/>
              </a:rPr>
              <a:t>Try it yourself</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1. Install Claude Code and try it on a personal project</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2. Copy the template configs and adapt to your workflow</a:t>
            </a:r>
            <a:endParaRPr lang="en-US" sz="1600" dirty="0"/>
          </a:p>
          <a:p>
            <a:pPr marL="342900" indent="-342900">
              <a:spcAft>
                <a:spcPts val="400"/>
              </a:spcAft>
              <a:buSzPct val="100000"/>
              <a:buChar char="•"/>
            </a:pPr>
            <a:r>
              <a:rPr lang="en-US" sz="1600" dirty="0">
                <a:solidFill>
                  <a:srgbClr val="000000"/>
                </a:solidFill>
                <a:latin typeface="Inter" pitchFamily="34" charset="0"/>
                <a:ea typeface="Inter" pitchFamily="34" charset="-122"/>
                <a:cs typeface="Inter" pitchFamily="34" charset="-120"/>
              </a:rPr>
              <a:t>3. Build your own anti-deskilling SKILL.md with HITL/HOTL/HOOTL classifications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2800" b="1" dirty="0">
                <a:solidFill>
                  <a:srgbClr val="000000"/>
                </a:solidFill>
                <a:latin typeface="Inter" pitchFamily="34" charset="0"/>
                <a:ea typeface="Inter" pitchFamily="34" charset="-122"/>
                <a:cs typeface="Inter" pitchFamily="34" charset="-120"/>
              </a:rPr>
              <a:t>Questions?</a:t>
            </a:r>
            <a:endParaRPr lang="en-US" sz="1600" dirty="0"/>
          </a:p>
          <a:p>
            <a:pPr indent="0" marL="0">
              <a:spcAft>
                <a:spcPts val="400"/>
              </a:spcAft>
              <a:buNone/>
            </a:pPr>
            <a:r>
              <a:rPr lang="en-US" sz="800" dirty="0">
                <a:solidFill>
                  <a:srgbClr val="000000"/>
                </a:solidFill>
                <a:latin typeface="Inter" pitchFamily="34" charset="0"/>
                <a:ea typeface="Inter" pitchFamily="34" charset="-122"/>
                <a:cs typeface="Inter" pitchFamily="34" charset="-120"/>
              </a:rPr>
              <a:t> </a:t>
            </a:r>
            <a:endParaRPr lang="en-US" sz="1600" dirty="0"/>
          </a:p>
          <a:p>
            <a:pPr indent="0" marL="0">
              <a:spcAft>
                <a:spcPts val="400"/>
              </a:spcAft>
              <a:buNone/>
            </a:pPr>
            <a:r>
              <a:rPr lang="en-US" sz="900" dirty="0">
                <a:solidFill>
                  <a:srgbClr val="CCCCCC"/>
                </a:solidFill>
                <a:latin typeface="Inter" pitchFamily="34" charset="0"/>
                <a:ea typeface="Inter" pitchFamily="34" charset="-122"/>
                <a:cs typeface="Inter" pitchFamily="34" charset="-120"/>
              </a:rPr>
              <a:t>© 2026 Elias Karabelas · NumeriCor GmbH · All rights reserved · No warranties expressed or implied</a:t>
            </a:r>
            <a:endParaRPr lang="en-US" sz="1600" dirty="0"/>
          </a:p>
        </p:txBody>
      </p:sp>
      <p:pic>
        <p:nvPicPr>
          <p:cNvPr id="5" name="Image 0" descr="/sessions/gracious-blissful-pasteur/mnt/claude_code_presentation/numericor.png">    </p:cNvPr>
          <p:cNvPicPr>
            <a:picLocks noChangeAspect="1"/>
          </p:cNvPicPr>
          <p:nvPr/>
        </p:nvPicPr>
        <p:blipFill>
          <a:blip r:embed="rId1"/>
          <a:stretch>
            <a:fillRect/>
          </a:stretch>
        </p:blipFill>
        <p:spPr>
          <a:xfrm>
            <a:off x="914400" y="6419088"/>
            <a:ext cx="1371600" cy="214884"/>
          </a:xfrm>
          <a:prstGeom prst="rect">
            <a:avLst/>
          </a:prstGeom>
        </p:spPr>
      </p:pic>
      <p:sp>
        <p:nvSpPr>
          <p:cNvPr id="6" name="Text 3"/>
          <p:cNvSpPr/>
          <p:nvPr/>
        </p:nvSpPr>
        <p:spPr>
          <a:xfrm>
            <a:off x="11064240" y="6400800"/>
            <a:ext cx="640080" cy="365760"/>
          </a:xfrm>
          <a:prstGeom prst="rect">
            <a:avLst/>
          </a:prstGeom>
          <a:noFill/>
          <a:ln/>
        </p:spPr>
        <p:txBody>
          <a:bodyPr wrap="square" rtlCol="0" anchor="ctr"/>
          <a:lstStyle/>
          <a:p>
            <a:pPr algn="r" indent="0" marL="0">
              <a:buNone/>
            </a:pPr>
            <a:r>
              <a:rPr lang="en-US" sz="1100" dirty="0">
                <a:solidFill>
                  <a:srgbClr val="CCCCCC"/>
                </a:solidFill>
                <a:latin typeface="Inter" pitchFamily="34" charset="0"/>
                <a:ea typeface="Inter" pitchFamily="34" charset="-122"/>
                <a:cs typeface="Inter" pitchFamily="34" charset="-120"/>
              </a:rPr>
              <a:t>34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A Practical Workshop</dc:title>
  <dc:subject>PptxGenJS Presentation</dc:subject>
  <dc:creator>Elias Karabelas</dc:creator>
  <cp:lastModifiedBy>Elias Karabelas</cp:lastModifiedBy>
  <cp:revision>1</cp:revision>
  <dcterms:created xsi:type="dcterms:W3CDTF">2026-04-15T08:31:48Z</dcterms:created>
  <dcterms:modified xsi:type="dcterms:W3CDTF">2026-04-15T08:31:48Z</dcterms:modified>
</cp:coreProperties>
</file>