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104" d="100"/>
          <a:sy n="104" d="100"/>
        </p:scale>
        <p:origin x="232" y="7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2205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daily workflow: I use /h-frame for tough architectural decisions where I want to drive each step myself. /h-note for quick rationale captures. /h-reason when I want Claude to figure out the right depth.
/h-onboard scans an existing project for architecture knowledge. /h-search is full-text search across all artifacts.
Note: renamed from Quint Codes in v6.0 — all /q-* commands are now /h-*. The .quint/ directory migrates automatically to .haft/ on first haft init.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marL="0" indent="0" algn="l">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pic>
        <p:nvPicPr>
          <p:cNvPr id="4"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5" name="Text 2"/>
          <p:cNvSpPr/>
          <p:nvPr/>
        </p:nvSpPr>
        <p:spPr>
          <a:xfrm>
            <a:off x="914400" y="5029200"/>
            <a:ext cx="7315200" cy="457200"/>
          </a:xfrm>
          <a:prstGeom prst="rect">
            <a:avLst/>
          </a:prstGeom>
          <a:noFill/>
          <a:ln/>
        </p:spPr>
        <p:txBody>
          <a:bodyPr wrap="square" rtlCol="0" anchor="ctr"/>
          <a:lstStyle/>
          <a:p>
            <a:pPr marL="0" indent="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Text 1"/>
          <p:cNvSpPr/>
          <p:nvPr/>
        </p:nvSpPr>
        <p:spPr>
          <a:xfrm>
            <a:off x="914400" y="1280160"/>
            <a:ext cx="10332720" cy="502920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a:t>
            </a:r>
          </a:p>
          <a:p>
            <a:pPr marL="0" indent="0">
              <a:spcAft>
                <a:spcPts val="400"/>
              </a:spcAft>
              <a:buNone/>
            </a:pPr>
            <a:r>
              <a:rPr lang="en-US" sz="1600" dirty="0">
                <a:solidFill>
                  <a:srgbClr val="000000"/>
                </a:solidFill>
                <a:latin typeface="Inter" pitchFamily="34" charset="0"/>
                <a:ea typeface="Inter" pitchFamily="34" charset="-122"/>
                <a:cs typeface="Inter" pitchFamily="34" charset="-120"/>
              </a:rPr>
              <a:t>Questions: elias.karabelas@numericor.at</a:t>
            </a:r>
            <a:endParaRPr lang="en-US" sz="1600" dirty="0"/>
          </a:p>
        </p:txBody>
      </p:sp>
      <p:pic>
        <p:nvPicPr>
          <p:cNvPr id="4"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5" name="Text 2"/>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What we will cover today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An agentic coding tool that lives in your terminal</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Up and running in under two minutes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-fsSL https://claude.ai/install.sh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Launch</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10 minutes — get Claude Code running on your machine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Run the starter kit installer</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bash install.sh</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Launch and authenticate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claude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Verify everything works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/help          → should show available commands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/h-status      → haft connected</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doctor      → Beads healthy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Essential commands and workflow patterns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Pick the right model — or let opusplan do it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claude --model opusplan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sonnet          # mid-session command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Control how much autonomy Claude has — Shift+Tab to cycle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Plan Mode — start here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Normal Mode (default)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Auto-Accept Edits Mode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Which level changes what — and what to commit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to commit to git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Concrete JSON snippets you can copy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Model defaults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"opusplan",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"effortLevel": "high"}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"Bash(git *)"],</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"deny": ["Edit", "Write",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Auto-approve safe tools (project-level)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{"permissions": {"allow": ["Read", "Glob", "Grep",</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"Bash(npm test)", "Bash(npm run build)"]}}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"env": {"DISABLE_TELEMETRY": "1",</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        "DISABLE_ERROR_REPORTING": "1"}</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Less is more — defaults first, deviate when necessary</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the research says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15 minutes — make Claude Code yours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1. Copy the user settings template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cp starter-kit/user-settings.json ~/.claude/settings.json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Claude Code inside your editor</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Pro tip</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What Anthropic sees, stores, and trains on</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Telemetry opt-out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DISABLE_TELEMETRY=1   DISABLE_ERROR_REPORTING=1</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 context: how does this compare?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Teach Claude new capabilities with markdown files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are Skills?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Skill anatomy</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name: my-skill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description: When to trigger this skill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Instructions for Claude go here...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Claude Code extension ecosystem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MCP (Model Context Protocol)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Plugins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How Claude delegates work — and how you can fine-tune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Custom subagents: full control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name: paper-reviewer</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model: opus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tools: Read, Grep, Glob</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permissionMode: plan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You are a scientific paper reviewer...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Decision Engineering?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problem haft solves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AI assistants generate code fast, but the reasoning behind decisions gets lost. When you revisit a codebase months later, you can’t tell why an approach was chosen.</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haft provides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Structured decision records with traceability and lifecycle awareness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Pareto-front analysis to compare genuinely different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Trust scores (R_eff) that degrade over time, surfacing stale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Codebase awareness with module detection and dependency graphs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Cross-project recall — decisions from other projects surface when relevant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it integrates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haft runs as an MCP server. Install it, and a full set of slash commands appears directly in Claude Code.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Installing haft</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Works with Claude Code, Cursor, Gemini CLI, JetBrains Air, and more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-fsSL https://quint.codes/install.sh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 to version control.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Verify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Type /h-status inside Claude Code. An empty dashboard confirms it’s connected as an MCP server.</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Compatible tools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(full support,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Cursor, Gemini CLI, Codex CLI / Air, JetBrains Air</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haft in Action</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full toolkit, not just one command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decision cycle (manual, step by step)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Frame the problem: signal, constraints, acceptance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/h-char — Define comparison dimensions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/h-explore — Generate genuinely distinct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/h-compare — Pareto-front comparison across your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/h-decide — Record the decision as a contract with invariants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/h-verify — Check claims against reality; scan for code drift and stale decisions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Smart entry point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Auto-selects depth: just think, step-by-step, or full autonomous cycle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Day-to-day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Record a quick micro-decision (auto-expires in 90 days)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/h-status — Dashboard: active decisions, problems, coverage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/h-problems — List active problems with readiness signals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/h-view — Audience projections: engineer, manager, audit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graph issue tracker that Claude Code manages for you</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Storage model</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key idea</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Personal projects: install, init, done</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curl -sSL https://raw.githubusercontent.com/steveyegge/beads/main/scripts/install.sh | bash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Initialize in your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--quiet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bd init --team is all you need</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cd your-project &amp;&amp; bd init --team</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Step 2: Team members join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git clone https://github.com/org/project &amp;&amp; cd project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init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15 minutes — set up decision engineering and issue tracking</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 your project directory</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haft init</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init --quiet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Install the Beads plugin</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/plugin marketplace add steveyegge/beads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/plugin install beads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Verify both work</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/h-status      → haft dashboard, should show 0 decisions</a:t>
            </a:r>
            <a:endParaRPr lang="en-US" sz="1600" dirty="0"/>
          </a:p>
          <a:p>
            <a:pPr marL="0" indent="0">
              <a:spcAft>
                <a:spcPts val="400"/>
              </a:spcAft>
              <a:buNone/>
            </a:pPr>
            <a:r>
              <a:rPr lang="en-US" sz="1400" dirty="0">
                <a:solidFill>
                  <a:srgbClr val="000000"/>
                </a:solidFill>
                <a:latin typeface="Consolas" pitchFamily="34" charset="0"/>
                <a:ea typeface="Consolas" pitchFamily="34" charset="-122"/>
                <a:cs typeface="Consolas" pitchFamily="34" charset="-120"/>
              </a:rPr>
              <a:t>bd ready       → Beads ready, no open issues yet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Optional: try a quick decision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914400" y="2194560"/>
            <a:ext cx="10332720" cy="1188720"/>
          </a:xfrm>
          <a:prstGeom prst="rect">
            <a:avLst/>
          </a:prstGeom>
          <a:noFill/>
          <a:ln/>
        </p:spPr>
        <p:txBody>
          <a:bodyPr wrap="square" lIns="0" tIns="0" rIns="0" bIns="0" rtlCol="0" anchor="ctr"/>
          <a:lstStyle/>
          <a:p>
            <a:pPr marL="0" indent="0" algn="l">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marL="0" indent="0" algn="l">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4" name="Text 2"/>
          <p:cNvSpPr/>
          <p:nvPr/>
        </p:nvSpPr>
        <p:spPr>
          <a:xfrm>
            <a:off x="914400" y="6400800"/>
            <a:ext cx="1645920" cy="365760"/>
          </a:xfrm>
          <a:prstGeom prst="rect">
            <a:avLst/>
          </a:prstGeom>
          <a:noFill/>
          <a:ln/>
        </p:spPr>
        <p:txBody>
          <a:bodyPr wrap="square" rtlCol="0" anchor="ctr"/>
          <a:lstStyle/>
          <a:p>
            <a:pPr marL="0" indent="0" algn="l">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555555"/>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We are wired to delegate to tools — this is not a flaw</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feedback 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key distinction</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AI tools are here to stay — the question is how you use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macro picture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pencil argument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bottom line</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A framework for calibrating how much AI does vs. you do</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HITL — Human-in-the-Loop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HOTL — Human-on-the-Loop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HOOTL — Human-out-of-the-Loop</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The tool exists. The research exists. You choose how to use it.</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How it fits with haft</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cigarette analogy</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4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Build your own guardrails — and test them</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What it does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Why this matters</a:t>
            </a:r>
            <a:endParaRPr lang="en-US" sz="1600" dirty="0"/>
          </a:p>
          <a:p>
            <a:pPr marL="0" indent="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457200"/>
            <a:ext cx="10332720" cy="640080"/>
          </a:xfrm>
          <a:prstGeom prst="rect">
            <a:avLst/>
          </a:prstGeom>
          <a:noFill/>
          <a:ln/>
        </p:spPr>
        <p:txBody>
          <a:bodyPr wrap="square" lIns="0" tIns="0" rIns="0" bIns="0" rtlCol="0" anchor="ctr"/>
          <a:lstStyle/>
          <a:p>
            <a:pPr marL="0" indent="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Text 1"/>
          <p:cNvSpPr/>
          <p:nvPr/>
        </p:nvSpPr>
        <p:spPr>
          <a:xfrm>
            <a:off x="914400" y="1097280"/>
            <a:ext cx="10332720" cy="365760"/>
          </a:xfrm>
          <a:prstGeom prst="rect">
            <a:avLst/>
          </a:prstGeom>
          <a:noFill/>
          <a:ln/>
        </p:spPr>
        <p:txBody>
          <a:bodyPr wrap="square" lIns="0" tIns="0" rIns="0" bIns="0" rtlCol="0" anchor="ctr"/>
          <a:lstStyle/>
          <a:p>
            <a:pPr marL="0" indent="0">
              <a:buNone/>
            </a:pPr>
            <a:r>
              <a:rPr lang="en-US" sz="1600" dirty="0">
                <a:solidFill>
                  <a:srgbClr val="888888"/>
                </a:solidFill>
                <a:latin typeface="Inter" pitchFamily="34" charset="0"/>
                <a:ea typeface="Inter" pitchFamily="34" charset="-122"/>
                <a:cs typeface="Inter" pitchFamily="34" charset="-120"/>
              </a:rPr>
              <a:t>Resources, starter kit, and next steps</a:t>
            </a:r>
            <a:endParaRPr lang="en-US" sz="1600" dirty="0"/>
          </a:p>
        </p:txBody>
      </p:sp>
      <p:sp>
        <p:nvSpPr>
          <p:cNvPr id="4" name="Text 2"/>
          <p:cNvSpPr/>
          <p:nvPr/>
        </p:nvSpPr>
        <p:spPr>
          <a:xfrm>
            <a:off x="914400" y="1645920"/>
            <a:ext cx="10332720" cy="4663440"/>
          </a:xfrm>
          <a:prstGeom prst="rect">
            <a:avLst/>
          </a:prstGeom>
          <a:noFill/>
          <a:ln/>
        </p:spPr>
        <p:txBody>
          <a:bodyPr wrap="square" lIns="0" tIns="0" rIns="0" bIns="0" rtlCol="0" anchor="t"/>
          <a:lstStyle/>
          <a:p>
            <a:pPr marL="0" indent="0">
              <a:spcAft>
                <a:spcPts val="400"/>
              </a:spcAft>
              <a:buNone/>
            </a:pPr>
            <a:r>
              <a:rPr lang="en-US" sz="18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18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a:p>
            <a:pPr marL="0" indent="0">
              <a:spcAft>
                <a:spcPts val="400"/>
              </a:spcAft>
              <a:buNone/>
            </a:pPr>
            <a:r>
              <a:rPr lang="en-US" sz="800" dirty="0">
                <a:solidFill>
                  <a:srgbClr val="000000"/>
                </a:solidFill>
                <a:latin typeface="Inter" pitchFamily="34" charset="0"/>
                <a:ea typeface="Inter" pitchFamily="34" charset="-122"/>
                <a:cs typeface="Inter" pitchFamily="34" charset="-120"/>
              </a:rPr>
              <a:t> </a:t>
            </a:r>
            <a:endParaRPr lang="en-US" sz="1600" dirty="0"/>
          </a:p>
        </p:txBody>
      </p:sp>
      <p:pic>
        <p:nvPicPr>
          <p:cNvPr id="5" name="Image 0" descr="/sessions/gracious-blissful-pasteur/mnt/claude_code_presentation/numericor.png"/>
          <p:cNvPicPr>
            <a:picLocks noChangeAspect="1"/>
          </p:cNvPicPr>
          <p:nvPr/>
        </p:nvPicPr>
        <p:blipFill>
          <a:blip r:embed="rId3"/>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marL="0" indent="0" algn="r">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58052E29-F5B7-7262-4259-D6D14E5F83E0}"/>
              </a:ext>
            </a:extLst>
          </p:cNvPr>
          <p:cNvSpPr txBox="1"/>
          <p:nvPr/>
        </p:nvSpPr>
        <p:spPr>
          <a:xfrm>
            <a:off x="3714750" y="2921168"/>
            <a:ext cx="4762499" cy="1015663"/>
          </a:xfrm>
          <a:prstGeom prst="rect">
            <a:avLst/>
          </a:prstGeom>
          <a:noFill/>
        </p:spPr>
        <p:txBody>
          <a:bodyPr wrap="square">
            <a:spAutoFit/>
          </a:bodyPr>
          <a:lstStyle/>
          <a:p>
            <a:pPr marL="0" indent="0">
              <a:spcAft>
                <a:spcPts val="400"/>
              </a:spcAft>
              <a:buNone/>
            </a:pPr>
            <a:r>
              <a:rPr lang="en-US" sz="6000" b="1" dirty="0">
                <a:solidFill>
                  <a:srgbClr val="000000"/>
                </a:solidFill>
                <a:latin typeface="Inter" pitchFamily="34" charset="0"/>
                <a:ea typeface="Inter" pitchFamily="34" charset="-122"/>
                <a:cs typeface="Inter" pitchFamily="34" charset="-120"/>
              </a:rPr>
              <a:t>Questions?</a:t>
            </a:r>
            <a:endParaRPr lang="en-US" sz="6000" dirty="0"/>
          </a:p>
        </p:txBody>
      </p:sp>
    </p:spTree>
    <p:extLst>
      <p:ext uri="{BB962C8B-B14F-4D97-AF65-F5344CB8AC3E}">
        <p14:creationId xmlns:p14="http://schemas.microsoft.com/office/powerpoint/2010/main" val="1485227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5654</Words>
  <Application>Microsoft Macintosh PowerPoint</Application>
  <PresentationFormat>Breitbild</PresentationFormat>
  <Paragraphs>536</Paragraphs>
  <Slides>35</Slides>
  <Notes>34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35</vt:i4>
      </vt:variant>
    </vt:vector>
  </HeadingPairs>
  <TitlesOfParts>
    <vt:vector size="39" baseType="lpstr">
      <vt:lpstr>Arial</vt:lpstr>
      <vt:lpstr>Consolas</vt:lpstr>
      <vt:lpstr>Inter</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3</cp:revision>
  <dcterms:created xsi:type="dcterms:W3CDTF">2026-04-15T08:31:48Z</dcterms:created>
  <dcterms:modified xsi:type="dcterms:W3CDTF">2026-04-15T08:35:55Z</dcterms:modified>
</cp:coreProperties>
</file>